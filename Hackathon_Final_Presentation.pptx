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91695"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32720" cy="914400"/>
          </a:xfrm>
          <a:prstGeom prst="rect">
            <a:avLst/>
          </a:prstGeom>
          <a:noFill/>
        </p:spPr>
        <p:txBody>
          <a:bodyPr wrap="square">
            <a:spAutoFit/>
          </a:bodyPr>
          <a:lstStyle/>
          <a:p>
            <a:pPr algn="ctr">
              <a:defRPr sz="4000" b="1">
                <a:solidFill>
                  <a:srgbClr val="FFFFFF"/>
                </a:solidFill>
                <a:latin typeface="Calibri"/>
              </a:defRPr>
            </a:pPr>
            <a:r>
              <a:t>PORTFOLIO RISK ANALYSIS DASHBOARD</a:t>
            </a:r>
          </a:p>
        </p:txBody>
      </p:sp>
      <p:sp>
        <p:nvSpPr>
          <p:cNvPr id="5" name="TextBox 4"/>
          <p:cNvSpPr txBox="1"/>
          <p:nvPr/>
        </p:nvSpPr>
        <p:spPr>
          <a:xfrm>
            <a:off x="914400" y="2103120"/>
            <a:ext cx="10332720" cy="640080"/>
          </a:xfrm>
          <a:prstGeom prst="rect">
            <a:avLst/>
          </a:prstGeom>
          <a:noFill/>
        </p:spPr>
        <p:txBody>
          <a:bodyPr wrap="square">
            <a:spAutoFit/>
          </a:bodyPr>
          <a:lstStyle/>
          <a:p>
            <a:pPr algn="ctr">
              <a:defRPr sz="2200" b="0">
                <a:solidFill>
                  <a:srgbClr val="0EA5E9"/>
                </a:solidFill>
                <a:latin typeface="Calibri"/>
              </a:defRPr>
            </a:pPr>
            <a:r>
              <a:t>AI-Powered Multi-Stage Risk Intelligence Platform</a:t>
            </a:r>
          </a:p>
        </p:txBody>
      </p:sp>
      <p:sp>
        <p:nvSpPr>
          <p:cNvPr id="6" name="TextBox 5"/>
          <p:cNvSpPr txBox="1"/>
          <p:nvPr/>
        </p:nvSpPr>
        <p:spPr>
          <a:xfrm>
            <a:off x="3657600" y="3657600"/>
            <a:ext cx="4846320" cy="411480"/>
          </a:xfrm>
          <a:prstGeom prst="rect">
            <a:avLst/>
          </a:prstGeom>
          <a:noFill/>
        </p:spPr>
        <p:txBody>
          <a:bodyPr wrap="square">
            <a:spAutoFit/>
          </a:bodyPr>
          <a:lstStyle/>
          <a:p>
            <a:pPr algn="ctr"/>
            <a:r>
              <a:rPr sz="1800">
                <a:solidFill>
                  <a:srgbClr val="64748B"/>
                </a:solidFill>
                <a:latin typeface="Calibri"/>
              </a:rPr>
              <a:t>Team: </a:t>
            </a:r>
            <a:r>
              <a:rPr sz="1800" b="1">
                <a:solidFill>
                  <a:srgbClr val="FFFFFF"/>
                </a:solidFill>
                <a:latin typeface="Calibri"/>
              </a:rPr>
              <a:t>[Team Name]</a:t>
            </a:r>
          </a:p>
        </p:txBody>
      </p:sp>
      <p:sp>
        <p:nvSpPr>
          <p:cNvPr id="7" name="TextBox 6"/>
          <p:cNvSpPr txBox="1"/>
          <p:nvPr/>
        </p:nvSpPr>
        <p:spPr>
          <a:xfrm>
            <a:off x="3657600" y="4114800"/>
            <a:ext cx="4846320" cy="411480"/>
          </a:xfrm>
          <a:prstGeom prst="rect">
            <a:avLst/>
          </a:prstGeom>
          <a:noFill/>
        </p:spPr>
        <p:txBody>
          <a:bodyPr wrap="square">
            <a:spAutoFit/>
          </a:bodyPr>
          <a:lstStyle/>
          <a:p>
            <a:pPr algn="ctr"/>
            <a:r>
              <a:rPr sz="1800">
                <a:solidFill>
                  <a:srgbClr val="64748B"/>
                </a:solidFill>
                <a:latin typeface="Calibri"/>
              </a:rPr>
              <a:t>Track: </a:t>
            </a:r>
            <a:r>
              <a:rPr sz="1800" b="1">
                <a:solidFill>
                  <a:srgbClr val="FFFFFF"/>
                </a:solidFill>
                <a:latin typeface="Calibri"/>
              </a:rPr>
              <a:t>[Track Name]</a:t>
            </a:r>
          </a:p>
        </p:txBody>
      </p:sp>
      <p:sp>
        <p:nvSpPr>
          <p:cNvPr id="8" name="TextBox 7"/>
          <p:cNvSpPr txBox="1"/>
          <p:nvPr/>
        </p:nvSpPr>
        <p:spPr>
          <a:xfrm>
            <a:off x="3657600" y="4572000"/>
            <a:ext cx="4846320" cy="411480"/>
          </a:xfrm>
          <a:prstGeom prst="rect">
            <a:avLst/>
          </a:prstGeom>
          <a:noFill/>
        </p:spPr>
        <p:txBody>
          <a:bodyPr wrap="square">
            <a:spAutoFit/>
          </a:bodyPr>
          <a:lstStyle/>
          <a:p>
            <a:pPr algn="ctr"/>
            <a:r>
              <a:rPr sz="1800">
                <a:solidFill>
                  <a:srgbClr val="64748B"/>
                </a:solidFill>
                <a:latin typeface="Calibri"/>
              </a:rPr>
              <a:t>Members: </a:t>
            </a:r>
            <a:r>
              <a:rPr sz="1800" b="1">
                <a:solidFill>
                  <a:srgbClr val="FFFFFF"/>
                </a:solidFill>
                <a:latin typeface="Calibri"/>
              </a:rPr>
              <a:t>[Team Members]</a:t>
            </a:r>
          </a:p>
        </p:txBody>
      </p:sp>
      <p:sp>
        <p:nvSpPr>
          <p:cNvPr id="9" name="TextBox 8"/>
          <p:cNvSpPr txBox="1"/>
          <p:nvPr/>
        </p:nvSpPr>
        <p:spPr>
          <a:xfrm>
            <a:off x="914400" y="5760720"/>
            <a:ext cx="10332720" cy="457200"/>
          </a:xfrm>
          <a:prstGeom prst="rect">
            <a:avLst/>
          </a:prstGeom>
          <a:noFill/>
        </p:spPr>
        <p:txBody>
          <a:bodyPr wrap="square">
            <a:spAutoFit/>
          </a:bodyPr>
          <a:lstStyle/>
          <a:p>
            <a:pPr algn="ctr">
              <a:defRPr sz="1600" b="0">
                <a:solidFill>
                  <a:srgbClr val="64748B"/>
                </a:solidFill>
                <a:latin typeface="Calibri"/>
              </a:defRPr>
            </a:pPr>
            <a:r>
              <a:t>Hackathon Final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058400" cy="640080"/>
          </a:xfrm>
          <a:prstGeom prst="rect">
            <a:avLst/>
          </a:prstGeom>
          <a:noFill/>
        </p:spPr>
        <p:txBody>
          <a:bodyPr wrap="square">
            <a:spAutoFit/>
          </a:bodyPr>
          <a:lstStyle/>
          <a:p>
            <a:pPr algn="l">
              <a:defRPr sz="3000" b="1">
                <a:solidFill>
                  <a:srgbClr val="FFFFFF"/>
                </a:solidFill>
                <a:latin typeface="Calibri"/>
              </a:defRPr>
            </a:pPr>
            <a:r>
              <a:t>Problem Statement</a:t>
            </a:r>
          </a:p>
        </p:txBody>
      </p:sp>
      <p:sp>
        <p:nvSpPr>
          <p:cNvPr id="5" name="TextBox 4"/>
          <p:cNvSpPr txBox="1"/>
          <p:nvPr/>
        </p:nvSpPr>
        <p:spPr>
          <a:xfrm>
            <a:off x="731520" y="1371600"/>
            <a:ext cx="10515600" cy="457200"/>
          </a:xfrm>
          <a:prstGeom prst="rect">
            <a:avLst/>
          </a:prstGeom>
          <a:noFill/>
        </p:spPr>
        <p:txBody>
          <a:bodyPr wrap="square">
            <a:spAutoFit/>
          </a:bodyPr>
          <a:lstStyle/>
          <a:p>
            <a:pPr algn="l">
              <a:defRPr sz="2200" b="1">
                <a:solidFill>
                  <a:srgbClr val="0F172A"/>
                </a:solidFill>
                <a:latin typeface="Calibri"/>
              </a:defRPr>
            </a:pPr>
            <a:r>
              <a:t>The Challenge</a:t>
            </a:r>
          </a:p>
        </p:txBody>
      </p:sp>
      <p:sp>
        <p:nvSpPr>
          <p:cNvPr id="6" name="TextBox 5"/>
          <p:cNvSpPr txBox="1"/>
          <p:nvPr/>
        </p:nvSpPr>
        <p:spPr>
          <a:xfrm>
            <a:off x="731520" y="1920240"/>
            <a:ext cx="10515600" cy="1097280"/>
          </a:xfrm>
          <a:prstGeom prst="rect">
            <a:avLst/>
          </a:prstGeom>
          <a:noFill/>
        </p:spPr>
        <p:txBody>
          <a:bodyPr wrap="square">
            <a:spAutoFit/>
          </a:bodyPr>
          <a:lstStyle/>
          <a:p>
            <a:pPr algn="l">
              <a:defRPr sz="1500" b="0">
                <a:solidFill>
                  <a:srgbClr val="334155"/>
                </a:solidFill>
                <a:latin typeface="Calibri"/>
              </a:defRPr>
            </a:pPr>
            <a:r>
              <a:t>Portfolio risk analysis in financial institutions is a manual, time-consuming, and error-prone process. Risk officers spend hours reviewing spreadsheets, checking multiple data sources, and applying subjective judgment to assess portfolio health. This leads to inconsistent ratings, delayed risk identification, and missed early warning signals that could prevent significant losses.</a:t>
            </a:r>
          </a:p>
        </p:txBody>
      </p:sp>
      <p:sp>
        <p:nvSpPr>
          <p:cNvPr id="7" name="TextBox 6"/>
          <p:cNvSpPr txBox="1"/>
          <p:nvPr/>
        </p:nvSpPr>
        <p:spPr>
          <a:xfrm>
            <a:off x="731520" y="3200400"/>
            <a:ext cx="10515600" cy="457200"/>
          </a:xfrm>
          <a:prstGeom prst="rect">
            <a:avLst/>
          </a:prstGeom>
          <a:noFill/>
        </p:spPr>
        <p:txBody>
          <a:bodyPr wrap="square">
            <a:spAutoFit/>
          </a:bodyPr>
          <a:lstStyle/>
          <a:p>
            <a:pPr algn="l">
              <a:defRPr sz="2200" b="1">
                <a:solidFill>
                  <a:srgbClr val="0F172A"/>
                </a:solidFill>
                <a:latin typeface="Calibri"/>
              </a:defRPr>
            </a:pPr>
            <a:r>
              <a:t>Why It Matters</a:t>
            </a:r>
          </a:p>
        </p:txBody>
      </p:sp>
      <p:sp>
        <p:nvSpPr>
          <p:cNvPr id="8" name="Rounded Rectangle 7"/>
          <p:cNvSpPr/>
          <p:nvPr/>
        </p:nvSpPr>
        <p:spPr>
          <a:xfrm>
            <a:off x="731520" y="3840480"/>
            <a:ext cx="2606040" cy="182880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840480"/>
            <a:ext cx="2606040" cy="6400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80"/>
            <a:ext cx="2240280" cy="365760"/>
          </a:xfrm>
          <a:prstGeom prst="rect">
            <a:avLst/>
          </a:prstGeom>
          <a:noFill/>
        </p:spPr>
        <p:txBody>
          <a:bodyPr wrap="square">
            <a:spAutoFit/>
          </a:bodyPr>
          <a:lstStyle/>
          <a:p>
            <a:pPr algn="ctr">
              <a:defRPr sz="1600" b="1">
                <a:solidFill>
                  <a:srgbClr val="0F172A"/>
                </a:solidFill>
                <a:latin typeface="Calibri"/>
              </a:defRPr>
            </a:pPr>
            <a:r>
              <a:t>Manual Reviews</a:t>
            </a:r>
          </a:p>
        </p:txBody>
      </p:sp>
      <p:sp>
        <p:nvSpPr>
          <p:cNvPr id="11" name="TextBox 10"/>
          <p:cNvSpPr txBox="1"/>
          <p:nvPr/>
        </p:nvSpPr>
        <p:spPr>
          <a:xfrm>
            <a:off x="914400" y="4526280"/>
            <a:ext cx="2240280" cy="914400"/>
          </a:xfrm>
          <a:prstGeom prst="rect">
            <a:avLst/>
          </a:prstGeom>
          <a:noFill/>
        </p:spPr>
        <p:txBody>
          <a:bodyPr wrap="square">
            <a:spAutoFit/>
          </a:bodyPr>
          <a:lstStyle/>
          <a:p>
            <a:pPr algn="ctr">
              <a:defRPr sz="1300" b="0">
                <a:solidFill>
                  <a:srgbClr val="64748B"/>
                </a:solidFill>
                <a:latin typeface="Calibri"/>
              </a:defRPr>
            </a:pPr>
            <a:r>
              <a:t>Hours of spreadsheet analysis</a:t>
            </a:r>
            <a:br/>
            <a:r>
              <a:t>per portfolio cycle</a:t>
            </a:r>
          </a:p>
        </p:txBody>
      </p:sp>
      <p:sp>
        <p:nvSpPr>
          <p:cNvPr id="12" name="Rounded Rectangle 11"/>
          <p:cNvSpPr/>
          <p:nvPr/>
        </p:nvSpPr>
        <p:spPr>
          <a:xfrm>
            <a:off x="3520440" y="3840480"/>
            <a:ext cx="2606040" cy="182880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3840480"/>
            <a:ext cx="2606040"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3320" y="4069080"/>
            <a:ext cx="2240280" cy="365760"/>
          </a:xfrm>
          <a:prstGeom prst="rect">
            <a:avLst/>
          </a:prstGeom>
          <a:noFill/>
        </p:spPr>
        <p:txBody>
          <a:bodyPr wrap="square">
            <a:spAutoFit/>
          </a:bodyPr>
          <a:lstStyle/>
          <a:p>
            <a:pPr algn="ctr">
              <a:defRPr sz="1600" b="1">
                <a:solidFill>
                  <a:srgbClr val="0F172A"/>
                </a:solidFill>
                <a:latin typeface="Calibri"/>
              </a:defRPr>
            </a:pPr>
            <a:r>
              <a:t>Inconsistent Ratings</a:t>
            </a:r>
          </a:p>
        </p:txBody>
      </p:sp>
      <p:sp>
        <p:nvSpPr>
          <p:cNvPr id="15" name="TextBox 14"/>
          <p:cNvSpPr txBox="1"/>
          <p:nvPr/>
        </p:nvSpPr>
        <p:spPr>
          <a:xfrm>
            <a:off x="3703320" y="4526280"/>
            <a:ext cx="2240280" cy="914400"/>
          </a:xfrm>
          <a:prstGeom prst="rect">
            <a:avLst/>
          </a:prstGeom>
          <a:noFill/>
        </p:spPr>
        <p:txBody>
          <a:bodyPr wrap="square">
            <a:spAutoFit/>
          </a:bodyPr>
          <a:lstStyle/>
          <a:p>
            <a:pPr algn="ctr">
              <a:defRPr sz="1300" b="0">
                <a:solidFill>
                  <a:srgbClr val="64748B"/>
                </a:solidFill>
                <a:latin typeface="Calibri"/>
              </a:defRPr>
            </a:pPr>
            <a:r>
              <a:t>Subjective judgment leads</a:t>
            </a:r>
            <a:br/>
            <a:r>
              <a:t>to analyst-dependent results</a:t>
            </a:r>
          </a:p>
        </p:txBody>
      </p:sp>
      <p:sp>
        <p:nvSpPr>
          <p:cNvPr id="16" name="Rounded Rectangle 15"/>
          <p:cNvSpPr/>
          <p:nvPr/>
        </p:nvSpPr>
        <p:spPr>
          <a:xfrm>
            <a:off x="6309360" y="3840480"/>
            <a:ext cx="2606040" cy="182880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3840480"/>
            <a:ext cx="260604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069080"/>
            <a:ext cx="2240280" cy="365760"/>
          </a:xfrm>
          <a:prstGeom prst="rect">
            <a:avLst/>
          </a:prstGeom>
          <a:noFill/>
        </p:spPr>
        <p:txBody>
          <a:bodyPr wrap="square">
            <a:spAutoFit/>
          </a:bodyPr>
          <a:lstStyle/>
          <a:p>
            <a:pPr algn="ctr">
              <a:defRPr sz="1600" b="1">
                <a:solidFill>
                  <a:srgbClr val="0F172A"/>
                </a:solidFill>
                <a:latin typeface="Calibri"/>
              </a:defRPr>
            </a:pPr>
            <a:r>
              <a:t>Delayed Detection</a:t>
            </a:r>
          </a:p>
        </p:txBody>
      </p:sp>
      <p:sp>
        <p:nvSpPr>
          <p:cNvPr id="19" name="TextBox 18"/>
          <p:cNvSpPr txBox="1"/>
          <p:nvPr/>
        </p:nvSpPr>
        <p:spPr>
          <a:xfrm>
            <a:off x="6492240" y="4526280"/>
            <a:ext cx="2240280" cy="914400"/>
          </a:xfrm>
          <a:prstGeom prst="rect">
            <a:avLst/>
          </a:prstGeom>
          <a:noFill/>
        </p:spPr>
        <p:txBody>
          <a:bodyPr wrap="square">
            <a:spAutoFit/>
          </a:bodyPr>
          <a:lstStyle/>
          <a:p>
            <a:pPr algn="ctr">
              <a:defRPr sz="1300" b="0">
                <a:solidFill>
                  <a:srgbClr val="64748B"/>
                </a:solidFill>
                <a:latin typeface="Calibri"/>
              </a:defRPr>
            </a:pPr>
            <a:r>
              <a:t>Risk signals missed until</a:t>
            </a:r>
            <a:br/>
            <a:r>
              <a:t>they become critical events</a:t>
            </a:r>
          </a:p>
        </p:txBody>
      </p:sp>
      <p:sp>
        <p:nvSpPr>
          <p:cNvPr id="20" name="Rounded Rectangle 19"/>
          <p:cNvSpPr/>
          <p:nvPr/>
        </p:nvSpPr>
        <p:spPr>
          <a:xfrm>
            <a:off x="9098280" y="3840480"/>
            <a:ext cx="2606040" cy="182880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8280" y="3840480"/>
            <a:ext cx="2606040" cy="6400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4069080"/>
            <a:ext cx="2240280" cy="365760"/>
          </a:xfrm>
          <a:prstGeom prst="rect">
            <a:avLst/>
          </a:prstGeom>
          <a:noFill/>
        </p:spPr>
        <p:txBody>
          <a:bodyPr wrap="square">
            <a:spAutoFit/>
          </a:bodyPr>
          <a:lstStyle/>
          <a:p>
            <a:pPr algn="ctr">
              <a:defRPr sz="1600" b="1">
                <a:solidFill>
                  <a:srgbClr val="0F172A"/>
                </a:solidFill>
                <a:latin typeface="Calibri"/>
              </a:defRPr>
            </a:pPr>
            <a:r>
              <a:t>No Sentiment Layer</a:t>
            </a:r>
          </a:p>
        </p:txBody>
      </p:sp>
      <p:sp>
        <p:nvSpPr>
          <p:cNvPr id="23" name="TextBox 22"/>
          <p:cNvSpPr txBox="1"/>
          <p:nvPr/>
        </p:nvSpPr>
        <p:spPr>
          <a:xfrm>
            <a:off x="9281160" y="4526280"/>
            <a:ext cx="2240280" cy="914400"/>
          </a:xfrm>
          <a:prstGeom prst="rect">
            <a:avLst/>
          </a:prstGeom>
          <a:noFill/>
        </p:spPr>
        <p:txBody>
          <a:bodyPr wrap="square">
            <a:spAutoFit/>
          </a:bodyPr>
          <a:lstStyle/>
          <a:p>
            <a:pPr algn="ctr">
              <a:defRPr sz="1300" b="0">
                <a:solidFill>
                  <a:srgbClr val="64748B"/>
                </a:solidFill>
                <a:latin typeface="Calibri"/>
              </a:defRPr>
            </a:pPr>
            <a:r>
              <a:t>Market perception risks</a:t>
            </a:r>
            <a:br/>
            <a:r>
              <a:t>ignored in traditional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058400" cy="640080"/>
          </a:xfrm>
          <a:prstGeom prst="rect">
            <a:avLst/>
          </a:prstGeom>
          <a:noFill/>
        </p:spPr>
        <p:txBody>
          <a:bodyPr wrap="square">
            <a:spAutoFit/>
          </a:bodyPr>
          <a:lstStyle/>
          <a:p>
            <a:pPr algn="l">
              <a:defRPr sz="3000" b="1">
                <a:solidFill>
                  <a:srgbClr val="FFFFFF"/>
                </a:solidFill>
                <a:latin typeface="Calibri"/>
              </a:defRPr>
            </a:pPr>
            <a:r>
              <a:t>Solution Overview</a:t>
            </a:r>
          </a:p>
        </p:txBody>
      </p:sp>
      <p:sp>
        <p:nvSpPr>
          <p:cNvPr id="5" name="Rounded Rectangle 4"/>
          <p:cNvSpPr/>
          <p:nvPr/>
        </p:nvSpPr>
        <p:spPr>
          <a:xfrm>
            <a:off x="548640" y="1371600"/>
            <a:ext cx="5577840" cy="50292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557784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846320" cy="365760"/>
          </a:xfrm>
          <a:prstGeom prst="rect">
            <a:avLst/>
          </a:prstGeom>
          <a:noFill/>
        </p:spPr>
        <p:txBody>
          <a:bodyPr wrap="square">
            <a:spAutoFit/>
          </a:bodyPr>
          <a:lstStyle/>
          <a:p>
            <a:pPr algn="l">
              <a:defRPr sz="2000" b="1">
                <a:solidFill>
                  <a:srgbClr val="0F172A"/>
                </a:solidFill>
                <a:latin typeface="Calibri"/>
              </a:defRPr>
            </a:pPr>
            <a:r>
              <a:t>Our Approach</a:t>
            </a:r>
          </a:p>
        </p:txBody>
      </p:sp>
      <p:sp>
        <p:nvSpPr>
          <p:cNvPr id="8" name="TextBox 7"/>
          <p:cNvSpPr txBox="1"/>
          <p:nvPr/>
        </p:nvSpPr>
        <p:spPr>
          <a:xfrm>
            <a:off x="914400" y="2103120"/>
            <a:ext cx="4846320" cy="914400"/>
          </a:xfrm>
          <a:prstGeom prst="rect">
            <a:avLst/>
          </a:prstGeom>
          <a:noFill/>
        </p:spPr>
        <p:txBody>
          <a:bodyPr wrap="square">
            <a:spAutoFit/>
          </a:bodyPr>
          <a:lstStyle/>
          <a:p>
            <a:pPr algn="l">
              <a:defRPr sz="1400" b="0">
                <a:solidFill>
                  <a:srgbClr val="334155"/>
                </a:solidFill>
                <a:latin typeface="Calibri"/>
              </a:defRPr>
            </a:pPr>
            <a:r>
              <a:t>We built an end-to-end automated pipeline that replaces manual portfolio risk review with a 5-stage intelligent system combining rule-based analysis, machine learning, and NLP sentiment analysis.</a:t>
            </a:r>
          </a:p>
        </p:txBody>
      </p:sp>
      <p:sp>
        <p:nvSpPr>
          <p:cNvPr id="9" name="TextBox 8"/>
          <p:cNvSpPr txBox="1"/>
          <p:nvPr/>
        </p:nvSpPr>
        <p:spPr>
          <a:xfrm>
            <a:off x="914400" y="3017520"/>
            <a:ext cx="4846320" cy="365760"/>
          </a:xfrm>
          <a:prstGeom prst="rect">
            <a:avLst/>
          </a:prstGeom>
          <a:noFill/>
        </p:spPr>
        <p:txBody>
          <a:bodyPr wrap="square">
            <a:spAutoFit/>
          </a:bodyPr>
          <a:lstStyle/>
          <a:p>
            <a:pPr algn="l">
              <a:defRPr sz="1800" b="1">
                <a:solidFill>
                  <a:srgbClr val="0F172A"/>
                </a:solidFill>
                <a:latin typeface="Calibri"/>
              </a:defRPr>
            </a:pPr>
            <a:r>
              <a:t>What Makes It Unique</a:t>
            </a:r>
          </a:p>
        </p:txBody>
      </p:sp>
      <p:sp>
        <p:nvSpPr>
          <p:cNvPr id="10" name="TextBox 9"/>
          <p:cNvSpPr txBox="1"/>
          <p:nvPr/>
        </p:nvSpPr>
        <p:spPr>
          <a:xfrm>
            <a:off x="914400" y="3474720"/>
            <a:ext cx="4846320" cy="2743200"/>
          </a:xfrm>
          <a:prstGeom prst="rect">
            <a:avLst/>
          </a:prstGeom>
          <a:noFill/>
        </p:spPr>
        <p:txBody>
          <a:bodyPr wrap="square">
            <a:spAutoFit/>
          </a:bodyPr>
          <a:lstStyle/>
          <a:p>
            <a:pPr>
              <a:spcAft>
                <a:spcPts val="800"/>
              </a:spcAft>
            </a:pPr>
            <a:r>
              <a:rPr sz="1300" b="1">
                <a:solidFill>
                  <a:srgbClr val="334155"/>
                </a:solidFill>
                <a:latin typeface="Calibri"/>
              </a:rPr>
              <a:t>Fully automated: </a:t>
            </a:r>
            <a:r>
              <a:rPr sz="1300">
                <a:solidFill>
                  <a:srgbClr val="334155"/>
                </a:solidFill>
                <a:latin typeface="Calibri"/>
              </a:rPr>
              <a:t>No code changes needed to run analysis on any portfolio</a:t>
            </a:r>
          </a:p>
          <a:p>
            <a:pPr>
              <a:spcAft>
                <a:spcPts val="800"/>
              </a:spcAft>
            </a:pPr>
            <a:r>
              <a:rPr sz="1300" b="1">
                <a:solidFill>
                  <a:srgbClr val="334155"/>
                </a:solidFill>
                <a:latin typeface="Calibri"/>
              </a:rPr>
              <a:t>Configurable thresholds: </a:t>
            </a:r>
            <a:r>
              <a:rPr sz="1300">
                <a:solidFill>
                  <a:srgbClr val="334155"/>
                </a:solidFill>
                <a:latin typeface="Calibri"/>
              </a:rPr>
              <a:t>11 risk parameters adjustable via UI sliders for different market conditions</a:t>
            </a:r>
          </a:p>
          <a:p>
            <a:pPr>
              <a:spcAft>
                <a:spcPts val="800"/>
              </a:spcAft>
            </a:pPr>
            <a:r>
              <a:rPr sz="1300" b="1">
                <a:solidFill>
                  <a:srgbClr val="334155"/>
                </a:solidFill>
                <a:latin typeface="Calibri"/>
              </a:rPr>
              <a:t>Multi-layer analysis: </a:t>
            </a:r>
            <a:r>
              <a:rPr sz="1300">
                <a:solidFill>
                  <a:srgbClr val="334155"/>
                </a:solidFill>
                <a:latin typeface="Calibri"/>
              </a:rPr>
              <a:t>Rule-based flags + ML anomaly detection + NLP sentiment in a single pipeline</a:t>
            </a:r>
          </a:p>
          <a:p>
            <a:pPr>
              <a:spcAft>
                <a:spcPts val="800"/>
              </a:spcAft>
            </a:pPr>
            <a:r>
              <a:rPr sz="1300" b="1">
                <a:solidFill>
                  <a:srgbClr val="334155"/>
                </a:solidFill>
                <a:latin typeface="Calibri"/>
              </a:rPr>
              <a:t>Persistent storage: </a:t>
            </a:r>
            <a:r>
              <a:rPr sz="1300">
                <a:solidFill>
                  <a:srgbClr val="334155"/>
                </a:solidFill>
                <a:latin typeface="Calibri"/>
              </a:rPr>
              <a:t>Results saved to cloud database for historical comparison and audit trail</a:t>
            </a:r>
          </a:p>
          <a:p>
            <a:pPr>
              <a:spcAft>
                <a:spcPts val="800"/>
              </a:spcAft>
            </a:pPr>
            <a:r>
              <a:rPr sz="1300" b="1">
                <a:solidFill>
                  <a:srgbClr val="334155"/>
                </a:solidFill>
                <a:latin typeface="Calibri"/>
              </a:rPr>
              <a:t>One-click reports: </a:t>
            </a:r>
            <a:r>
              <a:rPr sz="1300">
                <a:solidFill>
                  <a:srgbClr val="334155"/>
                </a:solidFill>
                <a:latin typeface="Calibri"/>
              </a:rPr>
              <a:t>PDF and CSV outputs generated automatically for compliance</a:t>
            </a:r>
          </a:p>
        </p:txBody>
      </p:sp>
      <p:sp>
        <p:nvSpPr>
          <p:cNvPr id="11" name="Rounded Rectangle 10"/>
          <p:cNvSpPr/>
          <p:nvPr/>
        </p:nvSpPr>
        <p:spPr>
          <a:xfrm>
            <a:off x="6309360" y="1371600"/>
            <a:ext cx="5577840" cy="50292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371600"/>
            <a:ext cx="557784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45920"/>
            <a:ext cx="4846320" cy="365760"/>
          </a:xfrm>
          <a:prstGeom prst="rect">
            <a:avLst/>
          </a:prstGeom>
          <a:noFill/>
        </p:spPr>
        <p:txBody>
          <a:bodyPr wrap="square">
            <a:spAutoFit/>
          </a:bodyPr>
          <a:lstStyle/>
          <a:p>
            <a:pPr algn="l">
              <a:defRPr sz="2000" b="1">
                <a:solidFill>
                  <a:srgbClr val="0F172A"/>
                </a:solidFill>
                <a:latin typeface="Calibri"/>
              </a:defRPr>
            </a:pPr>
            <a:r>
              <a:t>Key Features</a:t>
            </a:r>
          </a:p>
        </p:txBody>
      </p:sp>
      <p:sp>
        <p:nvSpPr>
          <p:cNvPr id="14" name="TextBox 13"/>
          <p:cNvSpPr txBox="1"/>
          <p:nvPr/>
        </p:nvSpPr>
        <p:spPr>
          <a:xfrm>
            <a:off x="6675120" y="2194560"/>
            <a:ext cx="4846320" cy="4114800"/>
          </a:xfrm>
          <a:prstGeom prst="rect">
            <a:avLst/>
          </a:prstGeom>
          <a:noFill/>
        </p:spPr>
        <p:txBody>
          <a:bodyPr wrap="square">
            <a:spAutoFit/>
          </a:bodyPr>
          <a:lstStyle/>
          <a:p>
            <a:pPr>
              <a:spcAft>
                <a:spcPts val="700"/>
              </a:spcAft>
            </a:pPr>
            <a:r>
              <a:rPr sz="1300" b="1">
                <a:solidFill>
                  <a:srgbClr val="334155"/>
                </a:solidFill>
                <a:latin typeface="Calibri"/>
              </a:rPr>
              <a:t>7 Risk Flags: </a:t>
            </a:r>
            <a:r>
              <a:rPr sz="1300">
                <a:solidFill>
                  <a:srgbClr val="334155"/>
                </a:solidFill>
                <a:latin typeface="Calibri"/>
              </a:rPr>
              <a:t>Volatility, drawdown, volume collapse, severe/extended decline, poor Sharpe, momentum breakdown</a:t>
            </a:r>
          </a:p>
          <a:p>
            <a:pPr>
              <a:spcAft>
                <a:spcPts val="700"/>
              </a:spcAft>
            </a:pPr>
            <a:r>
              <a:rPr sz="1300" b="1">
                <a:solidFill>
                  <a:srgbClr val="334155"/>
                </a:solidFill>
                <a:latin typeface="Calibri"/>
              </a:rPr>
              <a:t>RED/YELLOW/GREEN Ratings: </a:t>
            </a:r>
            <a:r>
              <a:rPr sz="1300">
                <a:solidFill>
                  <a:srgbClr val="334155"/>
                </a:solidFill>
                <a:latin typeface="Calibri"/>
              </a:rPr>
              <a:t>Automated color-coded risk classification for instant triage</a:t>
            </a:r>
          </a:p>
          <a:p>
            <a:pPr>
              <a:spcAft>
                <a:spcPts val="700"/>
              </a:spcAft>
            </a:pPr>
            <a:r>
              <a:rPr sz="1300" b="1">
                <a:solidFill>
                  <a:srgbClr val="334155"/>
                </a:solidFill>
                <a:latin typeface="Calibri"/>
              </a:rPr>
              <a:t>ML Anomaly Detection: </a:t>
            </a:r>
            <a:r>
              <a:rPr sz="1300">
                <a:solidFill>
                  <a:srgbClr val="334155"/>
                </a:solidFill>
                <a:latin typeface="Calibri"/>
              </a:rPr>
              <a:t>Isolation Forest identifies unusual asset behavior patterns</a:t>
            </a:r>
          </a:p>
          <a:p>
            <a:pPr>
              <a:spcAft>
                <a:spcPts val="700"/>
              </a:spcAft>
            </a:pPr>
            <a:r>
              <a:rPr sz="1300" b="1">
                <a:solidFill>
                  <a:srgbClr val="334155"/>
                </a:solidFill>
                <a:latin typeface="Calibri"/>
              </a:rPr>
              <a:t>Risk Prediction: </a:t>
            </a:r>
            <a:r>
              <a:rPr sz="1300">
                <a:solidFill>
                  <a:srgbClr val="334155"/>
                </a:solidFill>
                <a:latin typeface="Calibri"/>
              </a:rPr>
              <a:t>Random Forest predicts future risk rating changes with confidence scores</a:t>
            </a:r>
          </a:p>
          <a:p>
            <a:pPr>
              <a:spcAft>
                <a:spcPts val="700"/>
              </a:spcAft>
            </a:pPr>
            <a:r>
              <a:rPr sz="1300" b="1">
                <a:solidFill>
                  <a:srgbClr val="334155"/>
                </a:solidFill>
                <a:latin typeface="Calibri"/>
              </a:rPr>
              <a:t>Sentiment Analysis: </a:t>
            </a:r>
            <a:r>
              <a:rPr sz="1300">
                <a:solidFill>
                  <a:srgbClr val="334155"/>
                </a:solidFill>
                <a:latin typeface="Calibri"/>
              </a:rPr>
              <a:t>NLP on simulated financial news for RED-flagged assets with theme extraction</a:t>
            </a:r>
          </a:p>
          <a:p>
            <a:pPr>
              <a:spcAft>
                <a:spcPts val="700"/>
              </a:spcAft>
            </a:pPr>
            <a:r>
              <a:rPr sz="1300" b="1">
                <a:solidFill>
                  <a:srgbClr val="334155"/>
                </a:solidFill>
                <a:latin typeface="Calibri"/>
              </a:rPr>
              <a:t>Interactive Dashboard: </a:t>
            </a:r>
            <a:r>
              <a:rPr sz="1300">
                <a:solidFill>
                  <a:srgbClr val="334155"/>
                </a:solidFill>
                <a:latin typeface="Calibri"/>
              </a:rPr>
              <a:t>4-tab Streamlit interface with charts, drilldowns, and expandable asset rows</a:t>
            </a:r>
          </a:p>
          <a:p>
            <a:pPr>
              <a:spcAft>
                <a:spcPts val="700"/>
              </a:spcAft>
            </a:pPr>
            <a:r>
              <a:rPr sz="1300" b="1">
                <a:solidFill>
                  <a:srgbClr val="334155"/>
                </a:solidFill>
                <a:latin typeface="Calibri"/>
              </a:rPr>
              <a:t>Cloud Persistence: </a:t>
            </a:r>
            <a:r>
              <a:rPr sz="1300">
                <a:solidFill>
                  <a:srgbClr val="334155"/>
                </a:solidFill>
                <a:latin typeface="Calibri"/>
              </a:rPr>
              <a:t>PostgreSQL storage enables loading and comparing past pipeline runs</a:t>
            </a:r>
          </a:p>
        </p:txBody>
      </p:sp>
      <p:sp>
        <p:nvSpPr>
          <p:cNvPr id="15" name="TextBox 14"/>
          <p:cNvSpPr txBox="1"/>
          <p:nvPr/>
        </p:nvSpPr>
        <p:spPr>
          <a:xfrm>
            <a:off x="6675120" y="5669280"/>
            <a:ext cx="4846320" cy="457200"/>
          </a:xfrm>
          <a:prstGeom prst="rect">
            <a:avLst/>
          </a:prstGeom>
          <a:noFill/>
        </p:spPr>
        <p:txBody>
          <a:bodyPr wrap="square">
            <a:spAutoFit/>
          </a:bodyPr>
          <a:lstStyle/>
          <a:p>
            <a:pPr algn="l">
              <a:defRPr sz="1200" b="1">
                <a:solidFill>
                  <a:srgbClr val="0284C7"/>
                </a:solidFill>
                <a:latin typeface="Calibri"/>
              </a:defRPr>
            </a:pPr>
            <a:r>
              <a:t>Industry Impact: Reduces manual review from hours to seconds with consistent, bias-free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058400" cy="640080"/>
          </a:xfrm>
          <a:prstGeom prst="rect">
            <a:avLst/>
          </a:prstGeom>
          <a:noFill/>
        </p:spPr>
        <p:txBody>
          <a:bodyPr wrap="square">
            <a:spAutoFit/>
          </a:bodyPr>
          <a:lstStyle/>
          <a:p>
            <a:pPr algn="l">
              <a:defRPr sz="3000" b="1">
                <a:solidFill>
                  <a:srgbClr val="FFFFFF"/>
                </a:solidFill>
                <a:latin typeface="Calibri"/>
              </a:defRPr>
            </a:pPr>
            <a:r>
              <a:t>Industry Impact, Collaboration &amp; Production Viability</a:t>
            </a:r>
          </a:p>
        </p:txBody>
      </p:sp>
      <p:sp>
        <p:nvSpPr>
          <p:cNvPr id="5" name="Rounded Rectangle 4"/>
          <p:cNvSpPr/>
          <p:nvPr/>
        </p:nvSpPr>
        <p:spPr>
          <a:xfrm>
            <a:off x="548640" y="1371600"/>
            <a:ext cx="3566160" cy="237744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356616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3017520" cy="320040"/>
          </a:xfrm>
          <a:prstGeom prst="rect">
            <a:avLst/>
          </a:prstGeom>
          <a:noFill/>
        </p:spPr>
        <p:txBody>
          <a:bodyPr wrap="square">
            <a:spAutoFit/>
          </a:bodyPr>
          <a:lstStyle/>
          <a:p>
            <a:pPr algn="l">
              <a:defRPr sz="1800" b="1">
                <a:solidFill>
                  <a:srgbClr val="0F172A"/>
                </a:solidFill>
                <a:latin typeface="Calibri"/>
              </a:defRPr>
            </a:pPr>
            <a:r>
              <a:t>Path to Production</a:t>
            </a:r>
          </a:p>
        </p:txBody>
      </p:sp>
      <p:sp>
        <p:nvSpPr>
          <p:cNvPr id="8" name="TextBox 7"/>
          <p:cNvSpPr txBox="1"/>
          <p:nvPr/>
        </p:nvSpPr>
        <p:spPr>
          <a:xfrm>
            <a:off x="822960" y="2011680"/>
            <a:ext cx="3017520" cy="1645920"/>
          </a:xfrm>
          <a:prstGeom prst="rect">
            <a:avLst/>
          </a:prstGeom>
          <a:noFill/>
        </p:spPr>
        <p:txBody>
          <a:bodyPr wrap="square">
            <a:spAutoFit/>
          </a:bodyPr>
          <a:lstStyle/>
          <a:p>
            <a:pPr>
              <a:spcAft>
                <a:spcPts val="600"/>
              </a:spcAft>
            </a:pPr>
            <a:r>
              <a:rPr sz="1200">
                <a:solidFill>
                  <a:srgbClr val="334155"/>
                </a:solidFill>
                <a:latin typeface="Calibri"/>
              </a:rPr>
              <a:t>→  Replace simulated data feeds with live Bloomberg/Reuters APIs</a:t>
            </a:r>
          </a:p>
          <a:p>
            <a:pPr>
              <a:spcAft>
                <a:spcPts val="600"/>
              </a:spcAft>
            </a:pPr>
            <a:r>
              <a:rPr sz="1200">
                <a:solidFill>
                  <a:srgbClr val="334155"/>
                </a:solidFill>
                <a:latin typeface="Calibri"/>
              </a:rPr>
              <a:t>→  Integrate with existing portfolio management systems (PMS)</a:t>
            </a:r>
          </a:p>
          <a:p>
            <a:pPr>
              <a:spcAft>
                <a:spcPts val="600"/>
              </a:spcAft>
            </a:pPr>
            <a:r>
              <a:rPr sz="1200">
                <a:solidFill>
                  <a:srgbClr val="334155"/>
                </a:solidFill>
                <a:latin typeface="Calibri"/>
              </a:rPr>
              <a:t>→  Add user authentication and role-based access control</a:t>
            </a:r>
          </a:p>
          <a:p>
            <a:pPr>
              <a:spcAft>
                <a:spcPts val="600"/>
              </a:spcAft>
            </a:pPr>
            <a:r>
              <a:rPr sz="1200">
                <a:solidFill>
                  <a:srgbClr val="334155"/>
                </a:solidFill>
                <a:latin typeface="Calibri"/>
              </a:rPr>
              <a:t>→  Deploy on cloud infrastructure with CI/CD pipeline</a:t>
            </a:r>
          </a:p>
        </p:txBody>
      </p:sp>
      <p:sp>
        <p:nvSpPr>
          <p:cNvPr id="9" name="Rounded Rectangle 8"/>
          <p:cNvSpPr/>
          <p:nvPr/>
        </p:nvSpPr>
        <p:spPr>
          <a:xfrm>
            <a:off x="4297680" y="1371600"/>
            <a:ext cx="3566160" cy="237744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371600"/>
            <a:ext cx="356616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600200"/>
            <a:ext cx="3017520" cy="320040"/>
          </a:xfrm>
          <a:prstGeom prst="rect">
            <a:avLst/>
          </a:prstGeom>
          <a:noFill/>
        </p:spPr>
        <p:txBody>
          <a:bodyPr wrap="square">
            <a:spAutoFit/>
          </a:bodyPr>
          <a:lstStyle/>
          <a:p>
            <a:pPr algn="l">
              <a:defRPr sz="1800" b="1">
                <a:solidFill>
                  <a:srgbClr val="0F172A"/>
                </a:solidFill>
                <a:latin typeface="Calibri"/>
              </a:defRPr>
            </a:pPr>
            <a:r>
              <a:t>Scalability</a:t>
            </a:r>
          </a:p>
        </p:txBody>
      </p:sp>
      <p:sp>
        <p:nvSpPr>
          <p:cNvPr id="12" name="TextBox 11"/>
          <p:cNvSpPr txBox="1"/>
          <p:nvPr/>
        </p:nvSpPr>
        <p:spPr>
          <a:xfrm>
            <a:off x="4572000" y="2011680"/>
            <a:ext cx="3017520" cy="1645920"/>
          </a:xfrm>
          <a:prstGeom prst="rect">
            <a:avLst/>
          </a:prstGeom>
          <a:noFill/>
        </p:spPr>
        <p:txBody>
          <a:bodyPr wrap="square">
            <a:spAutoFit/>
          </a:bodyPr>
          <a:lstStyle/>
          <a:p>
            <a:pPr>
              <a:spcAft>
                <a:spcPts val="600"/>
              </a:spcAft>
            </a:pPr>
            <a:r>
              <a:rPr sz="1200">
                <a:solidFill>
                  <a:srgbClr val="334155"/>
                </a:solidFill>
                <a:latin typeface="Calibri"/>
              </a:rPr>
              <a:t>→  Currently handles 10-100 assets per run; horizontally scalable</a:t>
            </a:r>
          </a:p>
          <a:p>
            <a:pPr>
              <a:spcAft>
                <a:spcPts val="600"/>
              </a:spcAft>
            </a:pPr>
            <a:r>
              <a:rPr sz="1200">
                <a:solidFill>
                  <a:srgbClr val="334155"/>
                </a:solidFill>
                <a:latin typeface="Calibri"/>
              </a:rPr>
              <a:t>→  PostgreSQL backend supports concurrent users and large datasets</a:t>
            </a:r>
          </a:p>
          <a:p>
            <a:pPr>
              <a:spcAft>
                <a:spcPts val="600"/>
              </a:spcAft>
            </a:pPr>
            <a:r>
              <a:rPr sz="1200">
                <a:solidFill>
                  <a:srgbClr val="334155"/>
                </a:solidFill>
                <a:latin typeface="Calibri"/>
              </a:rPr>
              <a:t>→  Modular pipeline — each stage can be scaled independently</a:t>
            </a:r>
          </a:p>
          <a:p>
            <a:pPr>
              <a:spcAft>
                <a:spcPts val="600"/>
              </a:spcAft>
            </a:pPr>
            <a:r>
              <a:rPr sz="1200">
                <a:solidFill>
                  <a:srgbClr val="334155"/>
                </a:solidFill>
                <a:latin typeface="Calibri"/>
              </a:rPr>
              <a:t>→  ML models retrain on growing historical data for better accuracy</a:t>
            </a:r>
          </a:p>
        </p:txBody>
      </p:sp>
      <p:sp>
        <p:nvSpPr>
          <p:cNvPr id="13" name="Rounded Rectangle 12"/>
          <p:cNvSpPr/>
          <p:nvPr/>
        </p:nvSpPr>
        <p:spPr>
          <a:xfrm>
            <a:off x="8046720" y="1371600"/>
            <a:ext cx="3840480" cy="237744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371600"/>
            <a:ext cx="3840480" cy="6400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600200"/>
            <a:ext cx="3291840" cy="320040"/>
          </a:xfrm>
          <a:prstGeom prst="rect">
            <a:avLst/>
          </a:prstGeom>
          <a:noFill/>
        </p:spPr>
        <p:txBody>
          <a:bodyPr wrap="square">
            <a:spAutoFit/>
          </a:bodyPr>
          <a:lstStyle/>
          <a:p>
            <a:pPr algn="l">
              <a:defRPr sz="1800" b="1">
                <a:solidFill>
                  <a:srgbClr val="0F172A"/>
                </a:solidFill>
                <a:latin typeface="Calibri"/>
              </a:defRPr>
            </a:pPr>
            <a:r>
              <a:t>Collaboration Potential</a:t>
            </a:r>
          </a:p>
        </p:txBody>
      </p:sp>
      <p:sp>
        <p:nvSpPr>
          <p:cNvPr id="16" name="TextBox 15"/>
          <p:cNvSpPr txBox="1"/>
          <p:nvPr/>
        </p:nvSpPr>
        <p:spPr>
          <a:xfrm>
            <a:off x="8321040" y="2011680"/>
            <a:ext cx="3291840" cy="1645920"/>
          </a:xfrm>
          <a:prstGeom prst="rect">
            <a:avLst/>
          </a:prstGeom>
          <a:noFill/>
        </p:spPr>
        <p:txBody>
          <a:bodyPr wrap="square">
            <a:spAutoFit/>
          </a:bodyPr>
          <a:lstStyle/>
          <a:p>
            <a:pPr>
              <a:spcAft>
                <a:spcPts val="600"/>
              </a:spcAft>
            </a:pPr>
            <a:r>
              <a:rPr sz="1200">
                <a:solidFill>
                  <a:srgbClr val="334155"/>
                </a:solidFill>
                <a:latin typeface="Calibri"/>
              </a:rPr>
              <a:t>→  Data providers: Bloomberg, Reuters for live market feeds</a:t>
            </a:r>
          </a:p>
          <a:p>
            <a:pPr>
              <a:spcAft>
                <a:spcPts val="600"/>
              </a:spcAft>
            </a:pPr>
            <a:r>
              <a:rPr sz="1200">
                <a:solidFill>
                  <a:srgbClr val="334155"/>
                </a:solidFill>
                <a:latin typeface="Calibri"/>
              </a:rPr>
              <a:t>→  Risk teams: Customize thresholds per desk/strategy</a:t>
            </a:r>
          </a:p>
          <a:p>
            <a:pPr>
              <a:spcAft>
                <a:spcPts val="600"/>
              </a:spcAft>
            </a:pPr>
            <a:r>
              <a:rPr sz="1200">
                <a:solidFill>
                  <a:srgbClr val="334155"/>
                </a:solidFill>
                <a:latin typeface="Calibri"/>
              </a:rPr>
              <a:t>→  Compliance: Automated audit-ready PDF reports</a:t>
            </a:r>
          </a:p>
          <a:p>
            <a:pPr>
              <a:spcAft>
                <a:spcPts val="600"/>
              </a:spcAft>
            </a:pPr>
            <a:r>
              <a:rPr sz="1200">
                <a:solidFill>
                  <a:srgbClr val="334155"/>
                </a:solidFill>
                <a:latin typeface="Calibri"/>
              </a:rPr>
              <a:t>→  Quant teams: Extend ML models with proprietary features</a:t>
            </a:r>
          </a:p>
        </p:txBody>
      </p:sp>
      <p:sp>
        <p:nvSpPr>
          <p:cNvPr id="17" name="Rounded Rectangle 16"/>
          <p:cNvSpPr/>
          <p:nvPr/>
        </p:nvSpPr>
        <p:spPr>
          <a:xfrm>
            <a:off x="548640" y="4023360"/>
            <a:ext cx="11338560" cy="237744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023360"/>
            <a:ext cx="11338560"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51960"/>
            <a:ext cx="10515600" cy="320040"/>
          </a:xfrm>
          <a:prstGeom prst="rect">
            <a:avLst/>
          </a:prstGeom>
          <a:noFill/>
        </p:spPr>
        <p:txBody>
          <a:bodyPr wrap="square">
            <a:spAutoFit/>
          </a:bodyPr>
          <a:lstStyle/>
          <a:p>
            <a:pPr algn="l">
              <a:defRPr sz="1800" b="1">
                <a:solidFill>
                  <a:srgbClr val="0F172A"/>
                </a:solidFill>
                <a:latin typeface="Calibri"/>
              </a:defRPr>
            </a:pPr>
            <a:r>
              <a:t>Challenges &amp; Limitations</a:t>
            </a:r>
          </a:p>
        </p:txBody>
      </p:sp>
      <p:sp>
        <p:nvSpPr>
          <p:cNvPr id="20" name="TextBox 19"/>
          <p:cNvSpPr txBox="1"/>
          <p:nvPr/>
        </p:nvSpPr>
        <p:spPr>
          <a:xfrm>
            <a:off x="914400" y="4754880"/>
            <a:ext cx="5303520" cy="1371600"/>
          </a:xfrm>
          <a:prstGeom prst="rect">
            <a:avLst/>
          </a:prstGeom>
          <a:noFill/>
        </p:spPr>
        <p:txBody>
          <a:bodyPr wrap="square">
            <a:spAutoFit/>
          </a:bodyPr>
          <a:lstStyle/>
          <a:p>
            <a:pPr>
              <a:spcAft>
                <a:spcPts val="600"/>
              </a:spcAft>
            </a:pPr>
            <a:r>
              <a:rPr sz="1300" b="1">
                <a:solidFill>
                  <a:srgbClr val="334155"/>
                </a:solidFill>
                <a:latin typeface="Calibri"/>
              </a:rPr>
              <a:t>Simulated data: </a:t>
            </a:r>
            <a:r>
              <a:rPr sz="1300">
                <a:solidFill>
                  <a:srgbClr val="334155"/>
                </a:solidFill>
                <a:latin typeface="Calibri"/>
              </a:rPr>
              <a:t>Currently uses generated data; production requires live data integration and validation</a:t>
            </a:r>
          </a:p>
          <a:p>
            <a:pPr>
              <a:spcAft>
                <a:spcPts val="600"/>
              </a:spcAft>
            </a:pPr>
            <a:r>
              <a:rPr sz="1300" b="1">
                <a:solidFill>
                  <a:srgbClr val="334155"/>
                </a:solidFill>
                <a:latin typeface="Calibri"/>
              </a:rPr>
              <a:t>Model accuracy: </a:t>
            </a:r>
            <a:r>
              <a:rPr sz="1300">
                <a:solidFill>
                  <a:srgbClr val="334155"/>
                </a:solidFill>
                <a:latin typeface="Calibri"/>
              </a:rPr>
              <a:t>ML models need real historical data for meaningful predictions; current accuracy is on synthetic data</a:t>
            </a:r>
          </a:p>
        </p:txBody>
      </p:sp>
      <p:sp>
        <p:nvSpPr>
          <p:cNvPr id="21" name="TextBox 20"/>
          <p:cNvSpPr txBox="1"/>
          <p:nvPr/>
        </p:nvSpPr>
        <p:spPr>
          <a:xfrm>
            <a:off x="6400800" y="4754880"/>
            <a:ext cx="5303520" cy="1371600"/>
          </a:xfrm>
          <a:prstGeom prst="rect">
            <a:avLst/>
          </a:prstGeom>
          <a:noFill/>
        </p:spPr>
        <p:txBody>
          <a:bodyPr wrap="square">
            <a:spAutoFit/>
          </a:bodyPr>
          <a:lstStyle/>
          <a:p>
            <a:pPr>
              <a:spcAft>
                <a:spcPts val="600"/>
              </a:spcAft>
            </a:pPr>
            <a:r>
              <a:rPr sz="1300" b="1">
                <a:solidFill>
                  <a:srgbClr val="334155"/>
                </a:solidFill>
                <a:latin typeface="Calibri"/>
              </a:rPr>
              <a:t>Sentiment scope: </a:t>
            </a:r>
            <a:r>
              <a:rPr sz="1300">
                <a:solidFill>
                  <a:srgbClr val="334155"/>
                </a:solidFill>
                <a:latin typeface="Calibri"/>
              </a:rPr>
              <a:t>NLP analysis limited to simulated news; real-world requires API access to news aggregators</a:t>
            </a:r>
          </a:p>
          <a:p>
            <a:pPr>
              <a:spcAft>
                <a:spcPts val="600"/>
              </a:spcAft>
            </a:pPr>
            <a:r>
              <a:rPr sz="1300" b="1">
                <a:solidFill>
                  <a:srgbClr val="334155"/>
                </a:solidFill>
                <a:latin typeface="Calibri"/>
              </a:rPr>
              <a:t>Regulatory compliance: </a:t>
            </a:r>
            <a:r>
              <a:rPr sz="1300">
                <a:solidFill>
                  <a:srgbClr val="334155"/>
                </a:solidFill>
                <a:latin typeface="Calibri"/>
              </a:rPr>
              <a:t>Production deployment needs SOC2/ISO compliance review for financial data handling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058400" cy="640080"/>
          </a:xfrm>
          <a:prstGeom prst="rect">
            <a:avLst/>
          </a:prstGeom>
          <a:noFill/>
        </p:spPr>
        <p:txBody>
          <a:bodyPr wrap="square">
            <a:spAutoFit/>
          </a:bodyPr>
          <a:lstStyle/>
          <a:p>
            <a:pPr algn="l">
              <a:defRPr sz="3000" b="1">
                <a:solidFill>
                  <a:srgbClr val="FFFFFF"/>
                </a:solidFill>
                <a:latin typeface="Calibri"/>
              </a:defRPr>
            </a:pPr>
            <a:r>
              <a:t>Technical Implementation</a:t>
            </a:r>
          </a:p>
        </p:txBody>
      </p:sp>
      <p:sp>
        <p:nvSpPr>
          <p:cNvPr id="5" name="Rounded Rectangle 4"/>
          <p:cNvSpPr/>
          <p:nvPr/>
        </p:nvSpPr>
        <p:spPr>
          <a:xfrm>
            <a:off x="548640" y="1371600"/>
            <a:ext cx="3657600" cy="50292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365760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3108960" cy="320040"/>
          </a:xfrm>
          <a:prstGeom prst="rect">
            <a:avLst/>
          </a:prstGeom>
          <a:noFill/>
        </p:spPr>
        <p:txBody>
          <a:bodyPr wrap="square">
            <a:spAutoFit/>
          </a:bodyPr>
          <a:lstStyle/>
          <a:p>
            <a:pPr algn="l">
              <a:defRPr sz="2000" b="1">
                <a:solidFill>
                  <a:srgbClr val="0F172A"/>
                </a:solidFill>
                <a:latin typeface="Calibri"/>
              </a:defRPr>
            </a:pPr>
            <a:r>
              <a:t>Tech Stack</a:t>
            </a:r>
          </a:p>
        </p:txBody>
      </p:sp>
      <p:sp>
        <p:nvSpPr>
          <p:cNvPr id="8" name="TextBox 7"/>
          <p:cNvSpPr txBox="1"/>
          <p:nvPr/>
        </p:nvSpPr>
        <p:spPr>
          <a:xfrm>
            <a:off x="822960" y="2103120"/>
            <a:ext cx="3108960" cy="4114800"/>
          </a:xfrm>
          <a:prstGeom prst="rect">
            <a:avLst/>
          </a:prstGeom>
          <a:noFill/>
        </p:spPr>
        <p:txBody>
          <a:bodyPr wrap="square">
            <a:spAutoFit/>
          </a:bodyPr>
          <a:lstStyle/>
          <a:p>
            <a:pPr>
              <a:spcAft>
                <a:spcPts val="600"/>
              </a:spcAft>
            </a:pPr>
            <a:r>
              <a:rPr sz="1300" b="1">
                <a:solidFill>
                  <a:srgbClr val="334155"/>
                </a:solidFill>
                <a:latin typeface="Calibri"/>
              </a:rPr>
              <a:t>Frontend: </a:t>
            </a:r>
            <a:r>
              <a:rPr sz="1300">
                <a:solidFill>
                  <a:srgbClr val="334155"/>
                </a:solidFill>
                <a:latin typeface="Calibri"/>
              </a:rPr>
              <a:t>Streamlit with Plotly interactive charts</a:t>
            </a:r>
          </a:p>
          <a:p>
            <a:pPr>
              <a:spcAft>
                <a:spcPts val="600"/>
              </a:spcAft>
            </a:pPr>
            <a:r>
              <a:rPr sz="1300" b="1">
                <a:solidFill>
                  <a:srgbClr val="334155"/>
                </a:solidFill>
                <a:latin typeface="Calibri"/>
              </a:rPr>
              <a:t>Backend: </a:t>
            </a:r>
            <a:r>
              <a:rPr sz="1300">
                <a:solidFill>
                  <a:srgbClr val="334155"/>
                </a:solidFill>
                <a:latin typeface="Calibri"/>
              </a:rPr>
              <a:t>Python 3.11 with modular pipeline architecture</a:t>
            </a:r>
          </a:p>
          <a:p>
            <a:pPr>
              <a:spcAft>
                <a:spcPts val="600"/>
              </a:spcAft>
            </a:pPr>
            <a:r>
              <a:rPr sz="1300" b="1">
                <a:solidFill>
                  <a:srgbClr val="334155"/>
                </a:solidFill>
                <a:latin typeface="Calibri"/>
              </a:rPr>
              <a:t>ML: </a:t>
            </a:r>
            <a:r>
              <a:rPr sz="1300">
                <a:solidFill>
                  <a:srgbClr val="334155"/>
                </a:solidFill>
                <a:latin typeface="Calibri"/>
              </a:rPr>
              <a:t>scikit-learn (Isolation Forest, Random Forest)</a:t>
            </a:r>
          </a:p>
          <a:p>
            <a:pPr>
              <a:spcAft>
                <a:spcPts val="600"/>
              </a:spcAft>
            </a:pPr>
            <a:r>
              <a:rPr sz="1300" b="1">
                <a:solidFill>
                  <a:srgbClr val="334155"/>
                </a:solidFill>
                <a:latin typeface="Calibri"/>
              </a:rPr>
              <a:t>NLP: </a:t>
            </a:r>
            <a:r>
              <a:rPr sz="1300">
                <a:solidFill>
                  <a:srgbClr val="334155"/>
                </a:solidFill>
                <a:latin typeface="Calibri"/>
              </a:rPr>
              <a:t>TextBlob for sentiment analysis on financial news</a:t>
            </a:r>
          </a:p>
          <a:p>
            <a:pPr>
              <a:spcAft>
                <a:spcPts val="600"/>
              </a:spcAft>
            </a:pPr>
            <a:r>
              <a:rPr sz="1300" b="1">
                <a:solidFill>
                  <a:srgbClr val="334155"/>
                </a:solidFill>
                <a:latin typeface="Calibri"/>
              </a:rPr>
              <a:t>Database: </a:t>
            </a:r>
            <a:r>
              <a:rPr sz="1300">
                <a:solidFill>
                  <a:srgbClr val="334155"/>
                </a:solidFill>
                <a:latin typeface="Calibri"/>
              </a:rPr>
              <a:t>PostgreSQL (Replit managed) for persistent storage</a:t>
            </a:r>
          </a:p>
          <a:p>
            <a:pPr>
              <a:spcAft>
                <a:spcPts val="600"/>
              </a:spcAft>
            </a:pPr>
            <a:r>
              <a:rPr sz="1300" b="1">
                <a:solidFill>
                  <a:srgbClr val="334155"/>
                </a:solidFill>
                <a:latin typeface="Calibri"/>
              </a:rPr>
              <a:t>Reports: </a:t>
            </a:r>
            <a:r>
              <a:rPr sz="1300">
                <a:solidFill>
                  <a:srgbClr val="334155"/>
                </a:solidFill>
                <a:latin typeface="Calibri"/>
              </a:rPr>
              <a:t>ReportLab (PDF) + pandas (CSV) generation</a:t>
            </a:r>
          </a:p>
          <a:p>
            <a:pPr>
              <a:spcAft>
                <a:spcPts val="600"/>
              </a:spcAft>
            </a:pPr>
            <a:r>
              <a:rPr sz="1300" b="1">
                <a:solidFill>
                  <a:srgbClr val="334155"/>
                </a:solidFill>
                <a:latin typeface="Calibri"/>
              </a:rPr>
              <a:t>Data: </a:t>
            </a:r>
            <a:r>
              <a:rPr sz="1300">
                <a:solidFill>
                  <a:srgbClr val="334155"/>
                </a:solidFill>
                <a:latin typeface="Calibri"/>
              </a:rPr>
              <a:t>NumPy/pandas for time-series analysis</a:t>
            </a:r>
          </a:p>
          <a:p>
            <a:pPr>
              <a:spcAft>
                <a:spcPts val="600"/>
              </a:spcAft>
            </a:pPr>
            <a:r>
              <a:rPr sz="1300" b="1">
                <a:solidFill>
                  <a:srgbClr val="334155"/>
                </a:solidFill>
                <a:latin typeface="Calibri"/>
              </a:rPr>
              <a:t>Visualization: </a:t>
            </a:r>
            <a:r>
              <a:rPr sz="1300">
                <a:solidFill>
                  <a:srgbClr val="334155"/>
                </a:solidFill>
                <a:latin typeface="Calibri"/>
              </a:rPr>
              <a:t>Plotly + Matplotlib for charts</a:t>
            </a:r>
          </a:p>
        </p:txBody>
      </p:sp>
      <p:sp>
        <p:nvSpPr>
          <p:cNvPr id="9" name="Rounded Rectangle 8"/>
          <p:cNvSpPr/>
          <p:nvPr/>
        </p:nvSpPr>
        <p:spPr>
          <a:xfrm>
            <a:off x="4389120" y="1371600"/>
            <a:ext cx="7498079" cy="2560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71600"/>
            <a:ext cx="7498079" cy="6400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600200"/>
            <a:ext cx="6858000" cy="320040"/>
          </a:xfrm>
          <a:prstGeom prst="rect">
            <a:avLst/>
          </a:prstGeom>
          <a:noFill/>
        </p:spPr>
        <p:txBody>
          <a:bodyPr wrap="square">
            <a:spAutoFit/>
          </a:bodyPr>
          <a:lstStyle/>
          <a:p>
            <a:pPr algn="l">
              <a:defRPr sz="2000" b="1">
                <a:solidFill>
                  <a:srgbClr val="0F172A"/>
                </a:solidFill>
                <a:latin typeface="Calibri"/>
              </a:defRPr>
            </a:pPr>
            <a:r>
              <a:t>Architecture Diagram</a:t>
            </a:r>
          </a:p>
        </p:txBody>
      </p:sp>
      <p:pic>
        <p:nvPicPr>
          <p:cNvPr id="12" name="Picture 11" descr="pipeline_diagram.png"/>
          <p:cNvPicPr>
            <a:picLocks noChangeAspect="1"/>
          </p:cNvPicPr>
          <p:nvPr/>
        </p:nvPicPr>
        <p:blipFill>
          <a:blip r:embed="rId2"/>
          <a:stretch>
            <a:fillRect/>
          </a:stretch>
        </p:blipFill>
        <p:spPr>
          <a:xfrm>
            <a:off x="4572000" y="2057400"/>
            <a:ext cx="7132320" cy="1691640"/>
          </a:xfrm>
          <a:prstGeom prst="rect">
            <a:avLst/>
          </a:prstGeom>
        </p:spPr>
      </p:pic>
      <p:sp>
        <p:nvSpPr>
          <p:cNvPr id="13" name="Rounded Rectangle 12"/>
          <p:cNvSpPr/>
          <p:nvPr/>
        </p:nvSpPr>
        <p:spPr>
          <a:xfrm>
            <a:off x="4389120" y="4114800"/>
            <a:ext cx="3657600" cy="22860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4114800"/>
            <a:ext cx="365760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4343400"/>
            <a:ext cx="3108960" cy="320040"/>
          </a:xfrm>
          <a:prstGeom prst="rect">
            <a:avLst/>
          </a:prstGeom>
          <a:noFill/>
        </p:spPr>
        <p:txBody>
          <a:bodyPr wrap="square">
            <a:spAutoFit/>
          </a:bodyPr>
          <a:lstStyle/>
          <a:p>
            <a:pPr algn="l">
              <a:defRPr sz="1800" b="1">
                <a:solidFill>
                  <a:srgbClr val="0F172A"/>
                </a:solidFill>
                <a:latin typeface="Calibri"/>
              </a:defRPr>
            </a:pPr>
            <a:r>
              <a:t>Data Usage</a:t>
            </a:r>
          </a:p>
        </p:txBody>
      </p:sp>
      <p:sp>
        <p:nvSpPr>
          <p:cNvPr id="16" name="TextBox 15"/>
          <p:cNvSpPr txBox="1"/>
          <p:nvPr/>
        </p:nvSpPr>
        <p:spPr>
          <a:xfrm>
            <a:off x="4663440" y="4754880"/>
            <a:ext cx="3108960" cy="1371600"/>
          </a:xfrm>
          <a:prstGeom prst="rect">
            <a:avLst/>
          </a:prstGeom>
          <a:noFill/>
        </p:spPr>
        <p:txBody>
          <a:bodyPr wrap="square">
            <a:spAutoFit/>
          </a:bodyPr>
          <a:lstStyle/>
          <a:p>
            <a:pPr>
              <a:spcAft>
                <a:spcPts val="500"/>
              </a:spcAft>
            </a:pPr>
            <a:r>
              <a:rPr sz="1200">
                <a:solidFill>
                  <a:srgbClr val="334155"/>
                </a:solidFill>
                <a:latin typeface="Calibri"/>
              </a:rPr>
              <a:t>252 days of simulated daily price &amp; volume data per asset</a:t>
            </a:r>
          </a:p>
          <a:p>
            <a:pPr>
              <a:spcAft>
                <a:spcPts val="500"/>
              </a:spcAft>
            </a:pPr>
            <a:r>
              <a:rPr sz="1200">
                <a:solidFill>
                  <a:srgbClr val="334155"/>
                </a:solidFill>
                <a:latin typeface="Calibri"/>
              </a:rPr>
              <a:t>9 engineered features for ML (volatility, drawdown, Sharpe, etc.)</a:t>
            </a:r>
          </a:p>
          <a:p>
            <a:pPr>
              <a:spcAft>
                <a:spcPts val="500"/>
              </a:spcAft>
            </a:pPr>
            <a:r>
              <a:rPr sz="1200">
                <a:solidFill>
                  <a:srgbClr val="334155"/>
                </a:solidFill>
                <a:latin typeface="Calibri"/>
              </a:rPr>
              <a:t>15-30 simulated news articles per RED-flagged asset</a:t>
            </a:r>
          </a:p>
          <a:p>
            <a:pPr>
              <a:spcAft>
                <a:spcPts val="500"/>
              </a:spcAft>
            </a:pPr>
            <a:r>
              <a:rPr sz="1200">
                <a:solidFill>
                  <a:srgbClr val="334155"/>
                </a:solidFill>
                <a:latin typeface="Calibri"/>
              </a:rPr>
              <a:t>Feature scaling via StandardScaler for model input</a:t>
            </a:r>
          </a:p>
          <a:p>
            <a:pPr>
              <a:spcAft>
                <a:spcPts val="500"/>
              </a:spcAft>
            </a:pPr>
            <a:r>
              <a:rPr sz="1200">
                <a:solidFill>
                  <a:srgbClr val="334155"/>
                </a:solidFill>
                <a:latin typeface="Calibri"/>
              </a:rPr>
              <a:t>Responsible AI: Full transparency into risk logic and thresholds</a:t>
            </a:r>
          </a:p>
        </p:txBody>
      </p:sp>
      <p:sp>
        <p:nvSpPr>
          <p:cNvPr id="17" name="Rounded Rectangle 16"/>
          <p:cNvSpPr/>
          <p:nvPr/>
        </p:nvSpPr>
        <p:spPr>
          <a:xfrm>
            <a:off x="8229600" y="4114800"/>
            <a:ext cx="3657600" cy="22860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4114800"/>
            <a:ext cx="3657600"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4343400"/>
            <a:ext cx="3108960" cy="320040"/>
          </a:xfrm>
          <a:prstGeom prst="rect">
            <a:avLst/>
          </a:prstGeom>
          <a:noFill/>
        </p:spPr>
        <p:txBody>
          <a:bodyPr wrap="square">
            <a:spAutoFit/>
          </a:bodyPr>
          <a:lstStyle/>
          <a:p>
            <a:pPr algn="l">
              <a:defRPr sz="1800" b="1">
                <a:solidFill>
                  <a:srgbClr val="0F172A"/>
                </a:solidFill>
                <a:latin typeface="Calibri"/>
              </a:defRPr>
            </a:pPr>
            <a:r>
              <a:t>Model Performance</a:t>
            </a:r>
          </a:p>
        </p:txBody>
      </p:sp>
      <p:sp>
        <p:nvSpPr>
          <p:cNvPr id="20" name="TextBox 19"/>
          <p:cNvSpPr txBox="1"/>
          <p:nvPr/>
        </p:nvSpPr>
        <p:spPr>
          <a:xfrm>
            <a:off x="8503920" y="4754880"/>
            <a:ext cx="3108960" cy="1371600"/>
          </a:xfrm>
          <a:prstGeom prst="rect">
            <a:avLst/>
          </a:prstGeom>
          <a:noFill/>
        </p:spPr>
        <p:txBody>
          <a:bodyPr wrap="square">
            <a:spAutoFit/>
          </a:bodyPr>
          <a:lstStyle/>
          <a:p>
            <a:pPr>
              <a:spcAft>
                <a:spcPts val="500"/>
              </a:spcAft>
            </a:pPr>
            <a:r>
              <a:rPr sz="1200">
                <a:solidFill>
                  <a:srgbClr val="334155"/>
                </a:solidFill>
                <a:latin typeface="Calibri"/>
              </a:rPr>
              <a:t>Isolation Forest: ~15% contamination rate, 4-tier severity scoring</a:t>
            </a:r>
          </a:p>
          <a:p>
            <a:pPr>
              <a:spcAft>
                <a:spcPts val="500"/>
              </a:spcAft>
            </a:pPr>
            <a:r>
              <a:rPr sz="1200">
                <a:solidFill>
                  <a:srgbClr val="334155"/>
                </a:solidFill>
                <a:latin typeface="Calibri"/>
              </a:rPr>
              <a:t>Random Forest: Balanced class weights, 100 estimators</a:t>
            </a:r>
          </a:p>
          <a:p>
            <a:pPr>
              <a:spcAft>
                <a:spcPts val="500"/>
              </a:spcAft>
            </a:pPr>
            <a:r>
              <a:rPr sz="1200">
                <a:solidFill>
                  <a:srgbClr val="334155"/>
                </a:solidFill>
                <a:latin typeface="Calibri"/>
              </a:rPr>
              <a:t>Train/test split: 70/30 with stratification when possible</a:t>
            </a:r>
          </a:p>
          <a:p>
            <a:pPr>
              <a:spcAft>
                <a:spcPts val="500"/>
              </a:spcAft>
            </a:pPr>
            <a:r>
              <a:rPr sz="1200">
                <a:solidFill>
                  <a:srgbClr val="334155"/>
                </a:solidFill>
                <a:latin typeface="Calibri"/>
              </a:rPr>
              <a:t>Feature importance ranking identifies top risk drivers</a:t>
            </a:r>
          </a:p>
          <a:p>
            <a:pPr>
              <a:spcAft>
                <a:spcPts val="500"/>
              </a:spcAft>
            </a:pPr>
            <a:r>
              <a:rPr sz="1200">
                <a:solidFill>
                  <a:srgbClr val="334155"/>
                </a:solidFill>
                <a:latin typeface="Calibri"/>
              </a:rPr>
              <a:t>Validation checks ensure score consistency and range correctness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058400" cy="640080"/>
          </a:xfrm>
          <a:prstGeom prst="rect">
            <a:avLst/>
          </a:prstGeom>
          <a:noFill/>
        </p:spPr>
        <p:txBody>
          <a:bodyPr wrap="square">
            <a:spAutoFit/>
          </a:bodyPr>
          <a:lstStyle/>
          <a:p>
            <a:pPr algn="l">
              <a:defRPr sz="3000" b="1">
                <a:solidFill>
                  <a:srgbClr val="FFFFFF"/>
                </a:solidFill>
                <a:latin typeface="Calibri"/>
              </a:defRPr>
            </a:pPr>
            <a:r>
              <a:t>Demo: Product Walkthrough</a:t>
            </a:r>
          </a:p>
        </p:txBody>
      </p:sp>
      <p:sp>
        <p:nvSpPr>
          <p:cNvPr id="5" name="TextBox 4"/>
          <p:cNvSpPr txBox="1"/>
          <p:nvPr/>
        </p:nvSpPr>
        <p:spPr>
          <a:xfrm>
            <a:off x="731520" y="1371600"/>
            <a:ext cx="10515600" cy="457200"/>
          </a:xfrm>
          <a:prstGeom prst="rect">
            <a:avLst/>
          </a:prstGeom>
          <a:noFill/>
        </p:spPr>
        <p:txBody>
          <a:bodyPr wrap="square">
            <a:spAutoFit/>
          </a:bodyPr>
          <a:lstStyle/>
          <a:p>
            <a:pPr algn="l">
              <a:defRPr sz="2200" b="1">
                <a:solidFill>
                  <a:srgbClr val="0F172A"/>
                </a:solidFill>
                <a:latin typeface="Calibri"/>
              </a:defRPr>
            </a:pPr>
            <a:r>
              <a:t>Interactive Dashboard — 4-Tab Layout</a:t>
            </a:r>
          </a:p>
        </p:txBody>
      </p:sp>
      <p:sp>
        <p:nvSpPr>
          <p:cNvPr id="6" name="Rounded Rectangle 5"/>
          <p:cNvSpPr/>
          <p:nvPr/>
        </p:nvSpPr>
        <p:spPr>
          <a:xfrm>
            <a:off x="548640" y="2011680"/>
            <a:ext cx="2697480" cy="292608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011680"/>
            <a:ext cx="269748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94560"/>
            <a:ext cx="2423160" cy="320040"/>
          </a:xfrm>
          <a:prstGeom prst="rect">
            <a:avLst/>
          </a:prstGeom>
          <a:noFill/>
        </p:spPr>
        <p:txBody>
          <a:bodyPr wrap="square">
            <a:spAutoFit/>
          </a:bodyPr>
          <a:lstStyle/>
          <a:p>
            <a:pPr algn="l">
              <a:defRPr sz="1500" b="1">
                <a:solidFill>
                  <a:srgbClr val="0EA5E9"/>
                </a:solidFill>
                <a:latin typeface="Calibri"/>
              </a:defRPr>
            </a:pPr>
            <a:r>
              <a:t>Tab 1: Overview</a:t>
            </a:r>
          </a:p>
        </p:txBody>
      </p:sp>
      <p:sp>
        <p:nvSpPr>
          <p:cNvPr id="9" name="TextBox 8"/>
          <p:cNvSpPr txBox="1"/>
          <p:nvPr/>
        </p:nvSpPr>
        <p:spPr>
          <a:xfrm>
            <a:off x="685800" y="2606040"/>
            <a:ext cx="2423160" cy="2194560"/>
          </a:xfrm>
          <a:prstGeom prst="rect">
            <a:avLst/>
          </a:prstGeom>
          <a:noFill/>
        </p:spPr>
        <p:txBody>
          <a:bodyPr wrap="square">
            <a:spAutoFit/>
          </a:bodyPr>
          <a:lstStyle/>
          <a:p>
            <a:pPr>
              <a:spcAft>
                <a:spcPts val="500"/>
              </a:spcAft>
            </a:pPr>
            <a:r>
              <a:rPr sz="1100">
                <a:solidFill>
                  <a:srgbClr val="334155"/>
                </a:solidFill>
                <a:latin typeface="Calibri"/>
              </a:rPr>
              <a:t>KPI strip: Total Assets, Market Cap, Risk counts, Avg Volatility</a:t>
            </a:r>
          </a:p>
          <a:p>
            <a:pPr>
              <a:spcAft>
                <a:spcPts val="500"/>
              </a:spcAft>
            </a:pPr>
            <a:r>
              <a:rPr sz="1100">
                <a:solidFill>
                  <a:srgbClr val="334155"/>
                </a:solidFill>
                <a:latin typeface="Calibri"/>
              </a:rPr>
              <a:t>Sector allocation donut chart and risk distribution pie</a:t>
            </a:r>
          </a:p>
          <a:p>
            <a:pPr>
              <a:spcAft>
                <a:spcPts val="500"/>
              </a:spcAft>
            </a:pPr>
            <a:r>
              <a:rPr sz="1100">
                <a:solidFill>
                  <a:srgbClr val="334155"/>
                </a:solidFill>
                <a:latin typeface="Calibri"/>
              </a:rPr>
              <a:t>Volatility vs Drawdown scatter plot color-coded by risk</a:t>
            </a:r>
          </a:p>
          <a:p>
            <a:pPr>
              <a:spcAft>
                <a:spcPts val="500"/>
              </a:spcAft>
            </a:pPr>
            <a:r>
              <a:rPr sz="1100">
                <a:solidFill>
                  <a:srgbClr val="334155"/>
                </a:solidFill>
                <a:latin typeface="Calibri"/>
              </a:rPr>
              <a:t>ML Analysis summary with anomaly toggle and feature importance</a:t>
            </a:r>
          </a:p>
        </p:txBody>
      </p:sp>
      <p:sp>
        <p:nvSpPr>
          <p:cNvPr id="10" name="Rounded Rectangle 9"/>
          <p:cNvSpPr/>
          <p:nvPr/>
        </p:nvSpPr>
        <p:spPr>
          <a:xfrm>
            <a:off x="3429000" y="2011680"/>
            <a:ext cx="2697480" cy="292608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2011680"/>
            <a:ext cx="2697480" cy="6400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2194560"/>
            <a:ext cx="2423160" cy="320040"/>
          </a:xfrm>
          <a:prstGeom prst="rect">
            <a:avLst/>
          </a:prstGeom>
          <a:noFill/>
        </p:spPr>
        <p:txBody>
          <a:bodyPr wrap="square">
            <a:spAutoFit/>
          </a:bodyPr>
          <a:lstStyle/>
          <a:p>
            <a:pPr algn="l">
              <a:defRPr sz="1500" b="1">
                <a:solidFill>
                  <a:srgbClr val="8B5CF6"/>
                </a:solidFill>
                <a:latin typeface="Calibri"/>
              </a:defRPr>
            </a:pPr>
            <a:r>
              <a:t>Tab 2: Risk &amp; Sentiment</a:t>
            </a:r>
          </a:p>
        </p:txBody>
      </p:sp>
      <p:sp>
        <p:nvSpPr>
          <p:cNvPr id="13" name="TextBox 12"/>
          <p:cNvSpPr txBox="1"/>
          <p:nvPr/>
        </p:nvSpPr>
        <p:spPr>
          <a:xfrm>
            <a:off x="3566160" y="2606040"/>
            <a:ext cx="2423160" cy="2194560"/>
          </a:xfrm>
          <a:prstGeom prst="rect">
            <a:avLst/>
          </a:prstGeom>
          <a:noFill/>
        </p:spPr>
        <p:txBody>
          <a:bodyPr wrap="square">
            <a:spAutoFit/>
          </a:bodyPr>
          <a:lstStyle/>
          <a:p>
            <a:pPr>
              <a:spcAft>
                <a:spcPts val="500"/>
              </a:spcAft>
            </a:pPr>
            <a:r>
              <a:rPr sz="1100">
                <a:solidFill>
                  <a:srgbClr val="334155"/>
                </a:solidFill>
                <a:latin typeface="Calibri"/>
              </a:rPr>
              <a:t>Recommendations expander with prioritized actions</a:t>
            </a:r>
          </a:p>
          <a:p>
            <a:pPr>
              <a:spcAft>
                <a:spcPts val="500"/>
              </a:spcAft>
            </a:pPr>
            <a:r>
              <a:rPr sz="1100">
                <a:solidFill>
                  <a:srgbClr val="334155"/>
                </a:solidFill>
                <a:latin typeface="Calibri"/>
              </a:rPr>
              <a:t>Expandable flagged asset rows with inline deep dive</a:t>
            </a:r>
          </a:p>
          <a:p>
            <a:pPr>
              <a:spcAft>
                <a:spcPts val="500"/>
              </a:spcAft>
            </a:pPr>
            <a:r>
              <a:rPr sz="1100">
                <a:solidFill>
                  <a:srgbClr val="334155"/>
                </a:solidFill>
                <a:latin typeface="Calibri"/>
              </a:rPr>
              <a:t>4-column layout: Asset Info, Risk Metrics, Performance, Risk Flags</a:t>
            </a:r>
          </a:p>
          <a:p>
            <a:pPr>
              <a:spcAft>
                <a:spcPts val="500"/>
              </a:spcAft>
            </a:pPr>
            <a:r>
              <a:rPr sz="1100">
                <a:solidFill>
                  <a:srgbClr val="334155"/>
                </a:solidFill>
                <a:latin typeface="Calibri"/>
              </a:rPr>
              <a:t>Sentiment scores, trends, and news article tables per asset</a:t>
            </a:r>
          </a:p>
        </p:txBody>
      </p:sp>
      <p:sp>
        <p:nvSpPr>
          <p:cNvPr id="14" name="Rounded Rectangle 13"/>
          <p:cNvSpPr/>
          <p:nvPr/>
        </p:nvSpPr>
        <p:spPr>
          <a:xfrm>
            <a:off x="6309360" y="2011680"/>
            <a:ext cx="2697480" cy="292608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2011680"/>
            <a:ext cx="2697480"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194560"/>
            <a:ext cx="2423160" cy="320040"/>
          </a:xfrm>
          <a:prstGeom prst="rect">
            <a:avLst/>
          </a:prstGeom>
          <a:noFill/>
        </p:spPr>
        <p:txBody>
          <a:bodyPr wrap="square">
            <a:spAutoFit/>
          </a:bodyPr>
          <a:lstStyle/>
          <a:p>
            <a:pPr algn="l">
              <a:defRPr sz="1500" b="1">
                <a:solidFill>
                  <a:srgbClr val="F97316"/>
                </a:solidFill>
                <a:latin typeface="Calibri"/>
              </a:defRPr>
            </a:pPr>
            <a:r>
              <a:t>Tab 3: Asset Deep Dive</a:t>
            </a:r>
          </a:p>
        </p:txBody>
      </p:sp>
      <p:sp>
        <p:nvSpPr>
          <p:cNvPr id="17" name="TextBox 16"/>
          <p:cNvSpPr txBox="1"/>
          <p:nvPr/>
        </p:nvSpPr>
        <p:spPr>
          <a:xfrm>
            <a:off x="6446520" y="2606040"/>
            <a:ext cx="2423160" cy="2194560"/>
          </a:xfrm>
          <a:prstGeom prst="rect">
            <a:avLst/>
          </a:prstGeom>
          <a:noFill/>
        </p:spPr>
        <p:txBody>
          <a:bodyPr wrap="square">
            <a:spAutoFit/>
          </a:bodyPr>
          <a:lstStyle/>
          <a:p>
            <a:pPr>
              <a:spcAft>
                <a:spcPts val="500"/>
              </a:spcAft>
            </a:pPr>
            <a:r>
              <a:rPr sz="1100">
                <a:solidFill>
                  <a:srgbClr val="334155"/>
                </a:solidFill>
                <a:latin typeface="Calibri"/>
              </a:rPr>
              <a:t>Searchable asset selector with risk rating indicator</a:t>
            </a:r>
          </a:p>
          <a:p>
            <a:pPr>
              <a:spcAft>
                <a:spcPts val="500"/>
              </a:spcAft>
            </a:pPr>
            <a:r>
              <a:rPr sz="1100">
                <a:solidFill>
                  <a:srgbClr val="334155"/>
                </a:solidFill>
                <a:latin typeface="Calibri"/>
              </a:rPr>
              <a:t>Full asset profile with all metrics and ML predictions</a:t>
            </a:r>
          </a:p>
          <a:p>
            <a:pPr>
              <a:spcAft>
                <a:spcPts val="500"/>
              </a:spcAft>
            </a:pPr>
            <a:r>
              <a:rPr sz="1100">
                <a:solidFill>
                  <a:srgbClr val="334155"/>
                </a:solidFill>
                <a:latin typeface="Calibri"/>
              </a:rPr>
              <a:t>Historical price chart with ML anomaly analysis</a:t>
            </a:r>
          </a:p>
          <a:p>
            <a:pPr>
              <a:spcAft>
                <a:spcPts val="500"/>
              </a:spcAft>
            </a:pPr>
            <a:r>
              <a:rPr sz="1100">
                <a:solidFill>
                  <a:srgbClr val="334155"/>
                </a:solidFill>
                <a:latin typeface="Calibri"/>
              </a:rPr>
              <a:t>Sentiment details for RED-flagged assets</a:t>
            </a:r>
          </a:p>
        </p:txBody>
      </p:sp>
      <p:sp>
        <p:nvSpPr>
          <p:cNvPr id="18" name="Rounded Rectangle 17"/>
          <p:cNvSpPr/>
          <p:nvPr/>
        </p:nvSpPr>
        <p:spPr>
          <a:xfrm>
            <a:off x="9189720" y="2011680"/>
            <a:ext cx="2697480" cy="292608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89720" y="2011680"/>
            <a:ext cx="269748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2194560"/>
            <a:ext cx="2423160" cy="320040"/>
          </a:xfrm>
          <a:prstGeom prst="rect">
            <a:avLst/>
          </a:prstGeom>
          <a:noFill/>
        </p:spPr>
        <p:txBody>
          <a:bodyPr wrap="square">
            <a:spAutoFit/>
          </a:bodyPr>
          <a:lstStyle/>
          <a:p>
            <a:pPr algn="l">
              <a:defRPr sz="1500" b="1">
                <a:solidFill>
                  <a:srgbClr val="10B981"/>
                </a:solidFill>
                <a:latin typeface="Calibri"/>
              </a:defRPr>
            </a:pPr>
            <a:r>
              <a:t>Tab 4: Appendix</a:t>
            </a:r>
          </a:p>
        </p:txBody>
      </p:sp>
      <p:sp>
        <p:nvSpPr>
          <p:cNvPr id="21" name="TextBox 20"/>
          <p:cNvSpPr txBox="1"/>
          <p:nvPr/>
        </p:nvSpPr>
        <p:spPr>
          <a:xfrm>
            <a:off x="9326880" y="2606040"/>
            <a:ext cx="2423160" cy="2194560"/>
          </a:xfrm>
          <a:prstGeom prst="rect">
            <a:avLst/>
          </a:prstGeom>
          <a:noFill/>
        </p:spPr>
        <p:txBody>
          <a:bodyPr wrap="square">
            <a:spAutoFit/>
          </a:bodyPr>
          <a:lstStyle/>
          <a:p>
            <a:pPr>
              <a:spcAft>
                <a:spcPts val="500"/>
              </a:spcAft>
            </a:pPr>
            <a:r>
              <a:rPr sz="1100">
                <a:solidFill>
                  <a:srgbClr val="334155"/>
                </a:solidFill>
                <a:latin typeface="Calibri"/>
              </a:rPr>
              <a:t>Methodology documentation for all 5 pipeline stages</a:t>
            </a:r>
          </a:p>
          <a:p>
            <a:pPr>
              <a:spcAft>
                <a:spcPts val="500"/>
              </a:spcAft>
            </a:pPr>
            <a:r>
              <a:rPr sz="1100">
                <a:solidFill>
                  <a:srgbClr val="334155"/>
                </a:solidFill>
                <a:latin typeface="Calibri"/>
              </a:rPr>
              <a:t>Performance metrics table (returns, Sharpe ratios)</a:t>
            </a:r>
          </a:p>
          <a:p>
            <a:pPr>
              <a:spcAft>
                <a:spcPts val="500"/>
              </a:spcAft>
            </a:pPr>
            <a:r>
              <a:rPr sz="1100">
                <a:solidFill>
                  <a:srgbClr val="334155"/>
                </a:solidFill>
                <a:latin typeface="Calibri"/>
              </a:rPr>
              <a:t>Risk flags detail table across all assets</a:t>
            </a:r>
          </a:p>
          <a:p>
            <a:pPr>
              <a:spcAft>
                <a:spcPts val="500"/>
              </a:spcAft>
            </a:pPr>
            <a:r>
              <a:rPr sz="1100">
                <a:solidFill>
                  <a:srgbClr val="334155"/>
                </a:solidFill>
                <a:latin typeface="Calibri"/>
              </a:rPr>
              <a:t>Risk thresholds reference with current values</a:t>
            </a:r>
          </a:p>
        </p:txBody>
      </p:sp>
      <p:sp>
        <p:nvSpPr>
          <p:cNvPr id="22" name="Rounded Rectangle 21"/>
          <p:cNvSpPr/>
          <p:nvPr/>
        </p:nvSpPr>
        <p:spPr>
          <a:xfrm>
            <a:off x="548640" y="5120640"/>
            <a:ext cx="557784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5120640"/>
            <a:ext cx="5577840"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303520"/>
            <a:ext cx="5029200" cy="274320"/>
          </a:xfrm>
          <a:prstGeom prst="rect">
            <a:avLst/>
          </a:prstGeom>
          <a:noFill/>
        </p:spPr>
        <p:txBody>
          <a:bodyPr wrap="square">
            <a:spAutoFit/>
          </a:bodyPr>
          <a:lstStyle/>
          <a:p>
            <a:pPr algn="l">
              <a:defRPr sz="1600" b="1">
                <a:solidFill>
                  <a:srgbClr val="0F172A"/>
                </a:solidFill>
                <a:latin typeface="Calibri"/>
              </a:defRPr>
            </a:pPr>
            <a:r>
              <a:t>Key Functionalities</a:t>
            </a:r>
          </a:p>
        </p:txBody>
      </p:sp>
      <p:sp>
        <p:nvSpPr>
          <p:cNvPr id="25" name="TextBox 24"/>
          <p:cNvSpPr txBox="1"/>
          <p:nvPr/>
        </p:nvSpPr>
        <p:spPr>
          <a:xfrm>
            <a:off x="822960" y="5623560"/>
            <a:ext cx="5029200" cy="822960"/>
          </a:xfrm>
          <a:prstGeom prst="rect">
            <a:avLst/>
          </a:prstGeom>
          <a:noFill/>
        </p:spPr>
        <p:txBody>
          <a:bodyPr wrap="square">
            <a:spAutoFit/>
          </a:bodyPr>
          <a:lstStyle/>
          <a:p>
            <a:pPr>
              <a:spcAft>
                <a:spcPts val="400"/>
              </a:spcAft>
            </a:pPr>
            <a:r>
              <a:rPr sz="1200">
                <a:solidFill>
                  <a:srgbClr val="334155"/>
                </a:solidFill>
                <a:latin typeface="Calibri"/>
              </a:rPr>
              <a:t>Sidebar controls: Portfolio size slider + 11 configurable risk thresholds</a:t>
            </a:r>
          </a:p>
          <a:p>
            <a:pPr>
              <a:spcAft>
                <a:spcPts val="400"/>
              </a:spcAft>
            </a:pPr>
            <a:r>
              <a:rPr sz="1200">
                <a:solidFill>
                  <a:srgbClr val="334155"/>
                </a:solidFill>
                <a:latin typeface="Calibri"/>
              </a:rPr>
              <a:t>Cloud persistence: Auto-save runs to PostgreSQL, load/delete from sidebar</a:t>
            </a:r>
          </a:p>
          <a:p>
            <a:pPr>
              <a:spcAft>
                <a:spcPts val="400"/>
              </a:spcAft>
            </a:pPr>
            <a:r>
              <a:rPr sz="1200">
                <a:solidFill>
                  <a:srgbClr val="334155"/>
                </a:solidFill>
                <a:latin typeface="Calibri"/>
              </a:rPr>
              <a:t>One-click export: PDF reports and CSV data files generated per run</a:t>
            </a:r>
          </a:p>
        </p:txBody>
      </p:sp>
      <p:sp>
        <p:nvSpPr>
          <p:cNvPr id="26" name="Rounded Rectangle 25"/>
          <p:cNvSpPr/>
          <p:nvPr/>
        </p:nvSpPr>
        <p:spPr>
          <a:xfrm>
            <a:off x="6309360" y="5120640"/>
            <a:ext cx="557784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0" y="5120640"/>
            <a:ext cx="5577840" cy="6400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5303520"/>
            <a:ext cx="5029200" cy="274320"/>
          </a:xfrm>
          <a:prstGeom prst="rect">
            <a:avLst/>
          </a:prstGeom>
          <a:noFill/>
        </p:spPr>
        <p:txBody>
          <a:bodyPr wrap="square">
            <a:spAutoFit/>
          </a:bodyPr>
          <a:lstStyle/>
          <a:p>
            <a:pPr algn="l">
              <a:defRPr sz="1600" b="1">
                <a:solidFill>
                  <a:srgbClr val="0F172A"/>
                </a:solidFill>
                <a:latin typeface="Calibri"/>
              </a:defRPr>
            </a:pPr>
            <a:r>
              <a:t>User Experience</a:t>
            </a:r>
          </a:p>
        </p:txBody>
      </p:sp>
      <p:sp>
        <p:nvSpPr>
          <p:cNvPr id="29" name="TextBox 28"/>
          <p:cNvSpPr txBox="1"/>
          <p:nvPr/>
        </p:nvSpPr>
        <p:spPr>
          <a:xfrm>
            <a:off x="6583680" y="5623560"/>
            <a:ext cx="5029200" cy="822960"/>
          </a:xfrm>
          <a:prstGeom prst="rect">
            <a:avLst/>
          </a:prstGeom>
          <a:noFill/>
        </p:spPr>
        <p:txBody>
          <a:bodyPr wrap="square">
            <a:spAutoFit/>
          </a:bodyPr>
          <a:lstStyle/>
          <a:p>
            <a:pPr>
              <a:spcAft>
                <a:spcPts val="400"/>
              </a:spcAft>
            </a:pPr>
            <a:r>
              <a:rPr sz="1200">
                <a:solidFill>
                  <a:srgbClr val="334155"/>
                </a:solidFill>
                <a:latin typeface="Calibri"/>
              </a:rPr>
              <a:t>No code required: Business users configure everything via UI controls</a:t>
            </a:r>
          </a:p>
          <a:p>
            <a:pPr>
              <a:spcAft>
                <a:spcPts val="400"/>
              </a:spcAft>
            </a:pPr>
            <a:r>
              <a:rPr sz="1200">
                <a:solidFill>
                  <a:srgbClr val="334155"/>
                </a:solidFill>
                <a:latin typeface="Calibri"/>
              </a:rPr>
              <a:t>Color-coded everything: RED/YELLOW/GREEN badges, charts, and indicators</a:t>
            </a:r>
          </a:p>
          <a:p>
            <a:pPr>
              <a:spcAft>
                <a:spcPts val="400"/>
              </a:spcAft>
            </a:pPr>
            <a:r>
              <a:rPr sz="1200">
                <a:solidFill>
                  <a:srgbClr val="334155"/>
                </a:solidFill>
                <a:latin typeface="Calibri"/>
              </a:rPr>
              <a:t>Progressive disclosure: Overview first, drill down into details on demand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332720" cy="731520"/>
          </a:xfrm>
          <a:prstGeom prst="rect">
            <a:avLst/>
          </a:prstGeom>
          <a:noFill/>
        </p:spPr>
        <p:txBody>
          <a:bodyPr wrap="square">
            <a:spAutoFit/>
          </a:bodyPr>
          <a:lstStyle/>
          <a:p>
            <a:pPr algn="ctr">
              <a:defRPr sz="3600" b="1">
                <a:solidFill>
                  <a:srgbClr val="FFFFFF"/>
                </a:solidFill>
                <a:latin typeface="Calibri"/>
              </a:defRPr>
            </a:pPr>
            <a:r>
              <a:t>Portfolio Risk Analysis Dashboard</a:t>
            </a:r>
          </a:p>
        </p:txBody>
      </p:sp>
      <p:sp>
        <p:nvSpPr>
          <p:cNvPr id="5" name="TextBox 4"/>
          <p:cNvSpPr txBox="1"/>
          <p:nvPr/>
        </p:nvSpPr>
        <p:spPr>
          <a:xfrm>
            <a:off x="914400" y="1737360"/>
            <a:ext cx="10332720" cy="548640"/>
          </a:xfrm>
          <a:prstGeom prst="rect">
            <a:avLst/>
          </a:prstGeom>
          <a:noFill/>
        </p:spPr>
        <p:txBody>
          <a:bodyPr wrap="square">
            <a:spAutoFit/>
          </a:bodyPr>
          <a:lstStyle/>
          <a:p>
            <a:pPr algn="ctr">
              <a:defRPr sz="2000" b="0">
                <a:solidFill>
                  <a:srgbClr val="0EA5E9"/>
                </a:solidFill>
                <a:latin typeface="Calibri"/>
              </a:defRPr>
            </a:pPr>
            <a:r>
              <a:t>Turning hours of manual analysis into seconds of automated intelligence</a:t>
            </a:r>
          </a:p>
        </p:txBody>
      </p:sp>
      <p:sp>
        <p:nvSpPr>
          <p:cNvPr id="6" name="TextBox 5"/>
          <p:cNvSpPr txBox="1"/>
          <p:nvPr/>
        </p:nvSpPr>
        <p:spPr>
          <a:xfrm>
            <a:off x="2286000" y="3017520"/>
            <a:ext cx="7589520" cy="411480"/>
          </a:xfrm>
          <a:prstGeom prst="rect">
            <a:avLst/>
          </a:prstGeom>
          <a:noFill/>
        </p:spPr>
        <p:txBody>
          <a:bodyPr wrap="square">
            <a:spAutoFit/>
          </a:bodyPr>
          <a:lstStyle/>
          <a:p>
            <a:r>
              <a:rPr sz="1600">
                <a:solidFill>
                  <a:srgbClr val="10B981"/>
                </a:solidFill>
                <a:latin typeface="Calibri"/>
              </a:rPr>
              <a:t>✓   </a:t>
            </a:r>
            <a:r>
              <a:rPr sz="1600">
                <a:solidFill>
                  <a:srgbClr val="FFFFFF"/>
                </a:solidFill>
                <a:latin typeface="Calibri"/>
              </a:rPr>
              <a:t>5-stage automated pipeline: Ingest → Analyze → ML → Sentiment → Report</a:t>
            </a:r>
          </a:p>
        </p:txBody>
      </p:sp>
      <p:sp>
        <p:nvSpPr>
          <p:cNvPr id="7" name="TextBox 6"/>
          <p:cNvSpPr txBox="1"/>
          <p:nvPr/>
        </p:nvSpPr>
        <p:spPr>
          <a:xfrm>
            <a:off x="2286000" y="3429000"/>
            <a:ext cx="7589520" cy="411480"/>
          </a:xfrm>
          <a:prstGeom prst="rect">
            <a:avLst/>
          </a:prstGeom>
          <a:noFill/>
        </p:spPr>
        <p:txBody>
          <a:bodyPr wrap="square">
            <a:spAutoFit/>
          </a:bodyPr>
          <a:lstStyle/>
          <a:p>
            <a:r>
              <a:rPr sz="1600">
                <a:solidFill>
                  <a:srgbClr val="10B981"/>
                </a:solidFill>
                <a:latin typeface="Calibri"/>
              </a:rPr>
              <a:t>✓   </a:t>
            </a:r>
            <a:r>
              <a:rPr sz="1600">
                <a:solidFill>
                  <a:srgbClr val="FFFFFF"/>
                </a:solidFill>
                <a:latin typeface="Calibri"/>
              </a:rPr>
              <a:t>7 configurable risk flags with transparent RED/YELLOW/GREEN classification</a:t>
            </a:r>
          </a:p>
        </p:txBody>
      </p:sp>
      <p:sp>
        <p:nvSpPr>
          <p:cNvPr id="8" name="TextBox 7"/>
          <p:cNvSpPr txBox="1"/>
          <p:nvPr/>
        </p:nvSpPr>
        <p:spPr>
          <a:xfrm>
            <a:off x="2286000" y="3840480"/>
            <a:ext cx="7589520" cy="411480"/>
          </a:xfrm>
          <a:prstGeom prst="rect">
            <a:avLst/>
          </a:prstGeom>
          <a:noFill/>
        </p:spPr>
        <p:txBody>
          <a:bodyPr wrap="square">
            <a:spAutoFit/>
          </a:bodyPr>
          <a:lstStyle/>
          <a:p>
            <a:r>
              <a:rPr sz="1600">
                <a:solidFill>
                  <a:srgbClr val="10B981"/>
                </a:solidFill>
                <a:latin typeface="Calibri"/>
              </a:rPr>
              <a:t>✓   </a:t>
            </a:r>
            <a:r>
              <a:rPr sz="1600">
                <a:solidFill>
                  <a:srgbClr val="FFFFFF"/>
                </a:solidFill>
                <a:latin typeface="Calibri"/>
              </a:rPr>
              <a:t>ML anomaly detection catches risks that manual review may miss</a:t>
            </a:r>
          </a:p>
        </p:txBody>
      </p:sp>
      <p:sp>
        <p:nvSpPr>
          <p:cNvPr id="9" name="TextBox 8"/>
          <p:cNvSpPr txBox="1"/>
          <p:nvPr/>
        </p:nvSpPr>
        <p:spPr>
          <a:xfrm>
            <a:off x="2286000" y="4251960"/>
            <a:ext cx="7589520" cy="411480"/>
          </a:xfrm>
          <a:prstGeom prst="rect">
            <a:avLst/>
          </a:prstGeom>
          <a:noFill/>
        </p:spPr>
        <p:txBody>
          <a:bodyPr wrap="square">
            <a:spAutoFit/>
          </a:bodyPr>
          <a:lstStyle/>
          <a:p>
            <a:r>
              <a:rPr sz="1600">
                <a:solidFill>
                  <a:srgbClr val="10B981"/>
                </a:solidFill>
                <a:latin typeface="Calibri"/>
              </a:rPr>
              <a:t>✓   </a:t>
            </a:r>
            <a:r>
              <a:rPr sz="1600">
                <a:solidFill>
                  <a:srgbClr val="FFFFFF"/>
                </a:solidFill>
                <a:latin typeface="Calibri"/>
              </a:rPr>
              <a:t>NLP sentiment layer adds market perception to quantitative analysis</a:t>
            </a:r>
          </a:p>
        </p:txBody>
      </p:sp>
      <p:sp>
        <p:nvSpPr>
          <p:cNvPr id="10" name="TextBox 9"/>
          <p:cNvSpPr txBox="1"/>
          <p:nvPr/>
        </p:nvSpPr>
        <p:spPr>
          <a:xfrm>
            <a:off x="2286000" y="4663440"/>
            <a:ext cx="7589520" cy="411480"/>
          </a:xfrm>
          <a:prstGeom prst="rect">
            <a:avLst/>
          </a:prstGeom>
          <a:noFill/>
        </p:spPr>
        <p:txBody>
          <a:bodyPr wrap="square">
            <a:spAutoFit/>
          </a:bodyPr>
          <a:lstStyle/>
          <a:p>
            <a:r>
              <a:rPr sz="1600">
                <a:solidFill>
                  <a:srgbClr val="10B981"/>
                </a:solidFill>
                <a:latin typeface="Calibri"/>
              </a:rPr>
              <a:t>✓   </a:t>
            </a:r>
            <a:r>
              <a:rPr sz="1600">
                <a:solidFill>
                  <a:srgbClr val="FFFFFF"/>
                </a:solidFill>
                <a:latin typeface="Calibri"/>
              </a:rPr>
              <a:t>Cloud-persistent results enable historical comparison and audit readiness</a:t>
            </a:r>
          </a:p>
        </p:txBody>
      </p:sp>
      <p:sp>
        <p:nvSpPr>
          <p:cNvPr id="11" name="TextBox 10"/>
          <p:cNvSpPr txBox="1"/>
          <p:nvPr/>
        </p:nvSpPr>
        <p:spPr>
          <a:xfrm>
            <a:off x="2286000" y="5074920"/>
            <a:ext cx="7589520" cy="411480"/>
          </a:xfrm>
          <a:prstGeom prst="rect">
            <a:avLst/>
          </a:prstGeom>
          <a:noFill/>
        </p:spPr>
        <p:txBody>
          <a:bodyPr wrap="square">
            <a:spAutoFit/>
          </a:bodyPr>
          <a:lstStyle/>
          <a:p>
            <a:r>
              <a:rPr sz="1600">
                <a:solidFill>
                  <a:srgbClr val="10B981"/>
                </a:solidFill>
                <a:latin typeface="Calibri"/>
              </a:rPr>
              <a:t>✓   </a:t>
            </a:r>
            <a:r>
              <a:rPr sz="1600">
                <a:solidFill>
                  <a:srgbClr val="FFFFFF"/>
                </a:solidFill>
                <a:latin typeface="Calibri"/>
              </a:rPr>
              <a:t>Production-ready architecture with clear path to live data integration</a:t>
            </a:r>
          </a:p>
        </p:txBody>
      </p:sp>
      <p:sp>
        <p:nvSpPr>
          <p:cNvPr id="12" name="TextBox 11"/>
          <p:cNvSpPr txBox="1"/>
          <p:nvPr/>
        </p:nvSpPr>
        <p:spPr>
          <a:xfrm>
            <a:off x="914400" y="5760720"/>
            <a:ext cx="10332720" cy="548640"/>
          </a:xfrm>
          <a:prstGeom prst="rect">
            <a:avLst/>
          </a:prstGeom>
          <a:noFill/>
        </p:spPr>
        <p:txBody>
          <a:bodyPr wrap="square">
            <a:spAutoFit/>
          </a:bodyPr>
          <a:lstStyle/>
          <a:p>
            <a:pPr algn="ctr">
              <a:defRPr sz="2800" b="1">
                <a:solidFill>
                  <a:srgbClr val="FFFFFF"/>
                </a:solidFill>
                <a:latin typeface="Calibri"/>
              </a:defRPr>
            </a:pPr>
            <a:r>
              <a:t>Thank You — Questions?</a:t>
            </a:r>
          </a:p>
        </p:txBody>
      </p:sp>
      <p:sp>
        <p:nvSpPr>
          <p:cNvPr id="13" name="TextBox 12"/>
          <p:cNvSpPr txBox="1"/>
          <p:nvPr/>
        </p:nvSpPr>
        <p:spPr>
          <a:xfrm>
            <a:off x="914400" y="6309360"/>
            <a:ext cx="10332720" cy="365760"/>
          </a:xfrm>
          <a:prstGeom prst="rect">
            <a:avLst/>
          </a:prstGeom>
          <a:noFill/>
        </p:spPr>
        <p:txBody>
          <a:bodyPr wrap="square">
            <a:spAutoFit/>
          </a:bodyPr>
          <a:lstStyle/>
          <a:p>
            <a:pPr algn="ctr">
              <a:defRPr sz="1400" b="0">
                <a:solidFill>
                  <a:srgbClr val="64748B"/>
                </a:solidFill>
                <a:latin typeface="Calibri"/>
              </a:defRPr>
            </a:pPr>
            <a:r>
              <a:t>Live demo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