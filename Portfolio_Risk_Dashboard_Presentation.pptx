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4" r:id="rId15"/>
    <p:sldId id="258" r:id="rId9"/>
    <p:sldId id="259" r:id="rId10"/>
    <p:sldId id="260" r:id="rId11"/>
    <p:sldId id="261" r:id="rId12"/>
    <p:sldId id="262" r:id="rId13"/>
    <p:sldId id="263" r:id="rId14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Portfolio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EA5E9"/>
                </a:solidFill>
                <a:latin typeface="Calibri"/>
              </a:defRPr>
            </a:pPr>
            <a:r>
              <a:t>Analysis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4748B"/>
                </a:solidFill>
                <a:latin typeface="Calibri"/>
              </a:defRPr>
            </a:pPr>
            <a:r>
              <a:t>Automated Multi-Stage Risk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18288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Business &amp;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An end-to-end automated platform that ingests portfolio data, performs quantitative risk analysis, applies machine learning for anomaly detection, analyzes market sentiment, and generates actionable reports — all from a single interactive dashboard.</a:t>
            </a:r>
          </a:p>
        </p:txBody>
      </p:sp>
      <p:pic>
        <p:nvPicPr>
          <p:cNvPr id="5" name="Picture 4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1069848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Key Value: Reduces manual portfolio risk review from hours to seconds. Provides consistent, repeatable risk assessments with full transparency into methodology and thresholds.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Business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For Portfolio Managers &amp; Risk Officers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⚡  </a:t>
            </a:r>
            <a:r>
              <a:rPr sz="1400">
                <a:solidFill>
                  <a:srgbClr val="334155"/>
                </a:solidFill>
                <a:latin typeface="Calibri"/>
              </a:rPr>
              <a:t>Instant portfolio-wide risk scoring across all assets</a:t>
            </a:r>
          </a:p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🚦  </a:t>
            </a:r>
            <a:r>
              <a:rPr sz="1400">
                <a:solidFill>
                  <a:srgbClr val="334155"/>
                </a:solidFill>
                <a:latin typeface="Calibri"/>
              </a:rPr>
              <a:t>Color-coded ratings (RED / YELLOW / GREEN) for quick triage</a:t>
            </a:r>
          </a:p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⚙️  </a:t>
            </a:r>
            <a:r>
              <a:rPr sz="1400">
                <a:solidFill>
                  <a:srgbClr val="334155"/>
                </a:solidFill>
                <a:latin typeface="Calibri"/>
              </a:rPr>
              <a:t>Configurable thresholds — adjust sensitivity without code</a:t>
            </a:r>
          </a:p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🔍  </a:t>
            </a:r>
            <a:r>
              <a:rPr sz="1400">
                <a:solidFill>
                  <a:srgbClr val="334155"/>
                </a:solidFill>
                <a:latin typeface="Calibri"/>
              </a:rPr>
              <a:t>Expandable flagged asset rows with inline deep-dive details</a:t>
            </a:r>
          </a:p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📰  </a:t>
            </a:r>
            <a:r>
              <a:rPr sz="1400">
                <a:solidFill>
                  <a:srgbClr val="334155"/>
                </a:solidFill>
                <a:latin typeface="Calibri"/>
              </a:rPr>
              <a:t>Sentiment analysis surfaces market perception risks early</a:t>
            </a:r>
          </a:p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📄  </a:t>
            </a:r>
            <a:r>
              <a:rPr sz="1400">
                <a:solidFill>
                  <a:srgbClr val="334155"/>
                </a:solidFill>
                <a:latin typeface="Calibri"/>
              </a:rPr>
              <a:t>One-click PDF &amp; CSV reports for compliance and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48640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Measurable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286000"/>
            <a:ext cx="141732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EA5E9"/>
                </a:solidFill>
                <a:latin typeface="Calibri"/>
              </a:defRPr>
            </a:pPr>
            <a:r>
              <a:t>90%+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71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Reduction in</a:t>
            </a:r>
            <a:br/>
            <a:r>
              <a:t>manual review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2286000"/>
            <a:ext cx="1417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4688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71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Consistent, rule-based</a:t>
            </a:r>
            <a:br/>
            <a:r>
              <a:t>bias-free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5520" y="2286000"/>
            <a:ext cx="14173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4688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  <a:latin typeface="Calibri"/>
              </a:defRPr>
            </a:pPr>
            <a:r>
              <a:t>10-100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971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Assets analyzed</a:t>
            </a:r>
            <a:br/>
            <a:r>
              <a:t>per pipeline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🧠  </a:t>
            </a:r>
            <a:r>
              <a:rPr sz="1400">
                <a:solidFill>
                  <a:srgbClr val="334155"/>
                </a:solidFill>
                <a:latin typeface="Calibri"/>
              </a:rPr>
              <a:t>ML anomaly detection catches risks human review may miss</a:t>
            </a:r>
          </a:p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🔎  </a:t>
            </a:r>
            <a:r>
              <a:rPr sz="1400">
                <a:solidFill>
                  <a:srgbClr val="334155"/>
                </a:solidFill>
                <a:latin typeface="Calibri"/>
              </a:rPr>
              <a:t>Full audit trail with methodology transparency</a:t>
            </a:r>
          </a:p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📊  </a:t>
            </a:r>
            <a:r>
              <a:rPr sz="1400">
                <a:solidFill>
                  <a:srgbClr val="334155"/>
                </a:solidFill>
                <a:latin typeface="Calibri"/>
              </a:rPr>
              <a:t>Interactive charts — no more static spreadsheets</a:t>
            </a:r>
          </a:p>
          <a:p>
            <a:pPr>
              <a:spcAft>
                <a:spcPts val="1000"/>
              </a:spcAft>
            </a:pPr>
            <a:r>
              <a:rPr sz="1600">
                <a:latin typeface="Calibri"/>
              </a:rPr>
              <a:t>⏰  </a:t>
            </a:r>
            <a:r>
              <a:rPr sz="1400">
                <a:solidFill>
                  <a:srgbClr val="334155"/>
                </a:solidFill>
                <a:latin typeface="Calibri"/>
              </a:rPr>
              <a:t>Seconds to run, not hours of manual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Dashboard — Four-Tab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Tab 1: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173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KPI metrics strip (total assets, market cap, risk counts, avg volatility)</a:t>
            </a:r>
            <a:br/>
            <a:r>
              <a:t>Sector allocation donut chart</a:t>
            </a:r>
            <a:br/>
            <a:r>
              <a:t>Risk distribution pie chart</a:t>
            </a:r>
            <a:br/>
            <a:r>
              <a:t>Volatility vs Drawdown scatter plot</a:t>
            </a:r>
            <a:br/>
            <a:r>
              <a:t>ML analysis summary with anomaly toggle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Tab 2: Risk &amp; Sentiment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432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Collapsible recommendations section</a:t>
            </a:r>
            <a:br/>
            <a:r>
              <a:t>Expandable flagged asset rows — click any row to see:</a:t>
            </a:r>
            <a:br/>
            <a:r>
              <a:t>  • Asset info, risk metrics, performance, risk flags</a:t>
            </a:r>
            <a:br/>
            <a:r>
              <a:t>  • Sentiment scores and news articles</a:t>
            </a:r>
            <a:br/>
            <a:r>
              <a:t>Sentiment overview with aggregate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Tab 3: Asset Deep 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0690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Dropdown to select any asset in the portfolio</a:t>
            </a:r>
            <a:br/>
            <a:r>
              <a:t>Four-column layout: Info, Metrics, Performance, Flags</a:t>
            </a:r>
            <a:br/>
            <a:r>
              <a:t>Collapsible sentiment analysis section</a:t>
            </a:r>
            <a:br/>
            <a:r>
              <a:t>Historical price chart with ML anomaly overlay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4924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Tab 4: 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3949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Methodology documentation</a:t>
            </a:r>
            <a:br/>
            <a:r>
              <a:t>Collapsible performance metrics table</a:t>
            </a:r>
            <a:br/>
            <a:r>
              <a:t>Collapsible risk flags detail matrix</a:t>
            </a:r>
            <a:br/>
            <a:r>
              <a:t>Collapsible risk thresholds 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 Analysis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7 Risk Flags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High Volatility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&gt; 40% annualized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Extreme Drawdown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&lt; -20% max drawdown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Volume Collapse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&lt; -50% volume decline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Severe Decline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&lt; -15% in 1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Extended Decline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&lt; -25% in 3 months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6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Poor Risk/Return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Sharpe ratio &lt; -0.5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834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Momentum Breakdown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Both 1M &amp; 3M &lt; -10%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Rating Logic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92024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965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19202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Any critical flag triggered</a:t>
            </a:r>
            <a:br/>
            <a:r>
              <a:t>(Extreme Drawdown, Volume Collapse, Severe Decline)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2004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YELLOW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2004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2+ warning flags triggered, OR</a:t>
            </a:r>
            <a:br/>
            <a:r>
              <a:t>Momentum Breakdown + 1 warning flag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48056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526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4805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No critical flags and fewer than</a:t>
            </a:r>
            <a:br/>
            <a:r>
              <a:t>2 warning flags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86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284C7"/>
                </a:solidFill>
                <a:latin typeface="Calibri"/>
              </a:defRPr>
            </a:pPr>
            <a:r>
              <a:t>All thresholds are fully configurable via the sidebar — no code changes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ML &amp;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Machine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Anomaly Detection — Isolation Forest algorithm identifies outlier assets based on risk metrics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Risk Prediction — Random Forest classifier predicts future risk rating changes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Feature Importance — ranks which factors drive risk predictions most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Model accuracy and confidence scores reported per asset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Stratified training with automatic handling of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Sentiment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Triggered only for RED-flagged assets — focused analysis where it matters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Simulated financial news from 8 sources (Reuters, Bloomberg, FT, WSJ, etc.)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NLP-based sentiment scoring per article with relevance weighting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Trend detection: IMPROVING / STABLE / DETERIORATING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Key theme extraction: earnings, regulatory, management, operations, etc.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Full article listing available per asset in expandable deep-dive 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Frontend: Streamlit with custom CSS theming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Data Processing: Pandas, NumPy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ML Models: scikit-learn (Isolation Forest, Random Forest)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NLP: TextBlob for sentiment analysis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Visualization: Plotly (interactive charts)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Reports: ReportLab (PDF generation)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Runtime: Python 3.11+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app.py — Main dashboard application (tabbed layout)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pipeline/data_ingestion.py — Stage 1: Market data ingestion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pipeline/core_analysis.py — Stage 2: Risk analysis engine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pipeline/ml_analysis.py — Stage 3: ML models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pipeline/sentiment_analysis.py — Stage 4: NLP sentiment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pipeline/report_generator.py — Stage 5: PDF/CSV generation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utils/mock_data.py — Simulated Bloomberg data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284C7"/>
                </a:solidFill>
                <a:latin typeface="Calibri"/>
              </a:defRPr>
            </a:pPr>
            <a:r>
              <a:t>Modular pipeline design — each stage is independently testable and replaceable. Swap simulated data for real Bloomberg/Reuters feeds with minimal code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Configurable Risk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Calibri"/>
              </a:defRPr>
            </a:pPr>
            <a:r>
              <a:t>All risk thresholds are adjustable directly from the dashboard sidebar — no code changes required. This enables risk officers to tune sensitivity for different market conditions or portfolio strategies.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51560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51560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Volatility RED / YELLOW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40% / 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Annualized volatility trigger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64992"/>
            <a:ext cx="105156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10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Max Drawdown RED / YELLOW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10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-20% / -10%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10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Maximum drawdown thresholds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03904"/>
            <a:ext cx="1051560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96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Volume Decline RED / YELLOW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849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-50% / -30%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96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Trading volume decline limits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42816"/>
            <a:ext cx="105156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885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Severe Decline (1M)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885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-15%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885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One-month price drop threshold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81728"/>
            <a:ext cx="1051560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27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Extended Decline (3M)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-25%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27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Three-month price drop threshold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5156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Poor Sharpe Ratio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-0.5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Risk-adjusted return floor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559552"/>
            <a:ext cx="1051560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052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Momentum Breakdown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605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-10%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05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Combined short &amp; medium-term decline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998464"/>
            <a:ext cx="105156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0441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Correlation Threshold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6044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0441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High inter-asset correlation flag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73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4-tab layout with real-time charts, metrics, and drill-down capabilities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474720" cy="7315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Configurable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377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Adjust all risk parameters via sidebar sliders — no code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46304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8" y="1463040"/>
            <a:ext cx="3474720" cy="7315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8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Expandable Flagged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377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Click any flagged asset row to see full deep dive, sentiment &amp; articles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47472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ML-Powered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Isolation Forest anomalies + Random Forest predictions with 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84048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59" y="3840480"/>
            <a:ext cx="3474720" cy="7315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Sentiment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NLP analysis on financial news with trend detection and theme extraction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8" y="384048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8" y="3840480"/>
            <a:ext cx="3474720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8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Export &amp;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One-click PDF reports and CSV data exports for audit trails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Ready to 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EA5E9"/>
                </a:solidFill>
                <a:latin typeface="Calibri"/>
              </a:defRPr>
            </a:pPr>
            <a:r>
              <a:t>Portfolio Risk Management?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18288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Calibri"/>
              </a:defRPr>
            </a:pPr>
            <a:r>
              <a:t>From data ingestion to actionable insights — automated, transparent, and configurable.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Portfolio Risk Analysis Dashboard  •  Powered by Python, Streamlit &amp;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