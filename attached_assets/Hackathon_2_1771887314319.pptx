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85480" y="1568823"/>
            <a:ext cx="2286000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100" b="1" dirty="0">
                <a:solidFill>
                  <a:schemeClr val="tx1"/>
                </a:solidFill>
              </a:rPr>
              <a:t>The Control Panel</a:t>
            </a:r>
            <a:r>
              <a:rPr sz="1000" dirty="0">
                <a:solidFill>
                  <a:schemeClr val="tx1"/>
                </a:solidFill>
              </a:rPr>
              <a:t>
Main dashboard for user interaction.
- Run analysis
- Show results
- Download reports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28680" y="1568823"/>
            <a:ext cx="2286000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050" b="1" dirty="0">
                <a:solidFill>
                  <a:schemeClr val="tx1"/>
                </a:solidFill>
              </a:rPr>
              <a:t>The Data Collector</a:t>
            </a:r>
            <a:r>
              <a:rPr sz="1000" dirty="0">
                <a:solidFill>
                  <a:schemeClr val="tx1"/>
                </a:solidFill>
              </a:rPr>
              <a:t>
Fetches stock data (simulated).
- Prices, volumes, company info
- Financial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9809" y="1568823"/>
            <a:ext cx="2877675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100" b="1" dirty="0">
                <a:solidFill>
                  <a:schemeClr val="tx1"/>
                </a:solidFill>
              </a:rPr>
              <a:t>Rule-Based Risk Calculator</a:t>
            </a:r>
            <a:r>
              <a:rPr sz="1000" dirty="0">
                <a:solidFill>
                  <a:schemeClr val="tx1"/>
                </a:solidFill>
              </a:rPr>
              <a:t>
Calculates risk using formulas.
- Volatility, Drawdown, Sharpe Rati</a:t>
            </a:r>
            <a:r>
              <a:rPr lang="en-US" sz="1000" dirty="0">
                <a:solidFill>
                  <a:schemeClr val="tx1"/>
                </a:solidFill>
              </a:rPr>
              <a:t>o, </a:t>
            </a:r>
            <a:r>
              <a:rPr sz="1000" dirty="0">
                <a:solidFill>
                  <a:schemeClr val="tx1"/>
                </a:solidFill>
              </a:rPr>
              <a:t>RSI, Beta
- Risk Rating: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sz="1000" dirty="0">
                <a:solidFill>
                  <a:schemeClr val="tx1"/>
                </a:solidFill>
              </a:rPr>
              <a:t>RED/YELLOW/GREEN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2" y="4083423"/>
            <a:ext cx="2671478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100" b="1" dirty="0">
                <a:solidFill>
                  <a:schemeClr val="tx1"/>
                </a:solidFill>
              </a:rPr>
              <a:t>The AI Detective</a:t>
            </a:r>
            <a:r>
              <a:rPr sz="1000" dirty="0">
                <a:solidFill>
                  <a:schemeClr val="tx1"/>
                </a:solidFill>
              </a:rPr>
              <a:t>
Uses ML models to detect anomalies &amp; predict risk.
- Isolation Forest
- Random Forest Classifier
- Output: Score, Rating,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28680" y="4083423"/>
            <a:ext cx="2671478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100" b="1" dirty="0">
                <a:solidFill>
                  <a:schemeClr val="tx1"/>
                </a:solidFill>
              </a:rPr>
              <a:t>The News Reader</a:t>
            </a:r>
            <a:r>
              <a:rPr sz="1000" dirty="0">
                <a:solidFill>
                  <a:schemeClr val="tx1"/>
                </a:solidFill>
              </a:rPr>
              <a:t>
Analyzes news sentiment for RED-flagged stocks.
- </a:t>
            </a:r>
            <a:r>
              <a:rPr sz="1000" dirty="0" err="1">
                <a:solidFill>
                  <a:schemeClr val="tx1"/>
                </a:solidFill>
              </a:rPr>
              <a:t>TextBlob</a:t>
            </a:r>
            <a:r>
              <a:rPr sz="1000" dirty="0">
                <a:solidFill>
                  <a:schemeClr val="tx1"/>
                </a:solidFill>
              </a:rPr>
              <a:t> NLP
- Sentiment score &amp; trend
- Confidence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516" y="4083423"/>
            <a:ext cx="2366683" cy="1371600"/>
          </a:xfrm>
          <a:prstGeom prst="roundRect">
            <a:avLst/>
          </a:prstGeom>
          <a:solidFill>
            <a:srgbClr val="E6E6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2"/>
            <a:r>
              <a:rPr sz="1050" b="1" dirty="0">
                <a:solidFill>
                  <a:schemeClr val="tx1"/>
                </a:solidFill>
              </a:rPr>
              <a:t>The Report Writer</a:t>
            </a:r>
            <a:r>
              <a:rPr sz="1000" dirty="0">
                <a:solidFill>
                  <a:schemeClr val="tx1"/>
                </a:solidFill>
              </a:rPr>
              <a:t>
Generates PDF report.
- Tables, charts, summary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ECB5B6-C22C-8AC6-70F1-E274DF5F9C25}"/>
              </a:ext>
            </a:extLst>
          </p:cNvPr>
          <p:cNvCxnSpPr/>
          <p:nvPr/>
        </p:nvCxnSpPr>
        <p:spPr>
          <a:xfrm>
            <a:off x="7566212" y="2940423"/>
            <a:ext cx="0" cy="1143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61533A9-441A-52E5-E174-B11FAF55141B}"/>
              </a:ext>
            </a:extLst>
          </p:cNvPr>
          <p:cNvSpPr txBox="1"/>
          <p:nvPr/>
        </p:nvSpPr>
        <p:spPr>
          <a:xfrm>
            <a:off x="7566212" y="3397624"/>
            <a:ext cx="417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2BBC90-0FC4-7954-B29A-0343C2736680}"/>
              </a:ext>
            </a:extLst>
          </p:cNvPr>
          <p:cNvCxnSpPr/>
          <p:nvPr/>
        </p:nvCxnSpPr>
        <p:spPr>
          <a:xfrm>
            <a:off x="6660776" y="2940423"/>
            <a:ext cx="0" cy="5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F1CE9A-2D3A-F200-60FD-0CEA0E718854}"/>
              </a:ext>
            </a:extLst>
          </p:cNvPr>
          <p:cNvCxnSpPr/>
          <p:nvPr/>
        </p:nvCxnSpPr>
        <p:spPr>
          <a:xfrm flipH="1">
            <a:off x="1685365" y="3511923"/>
            <a:ext cx="49754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5666AF-ED16-3118-EAB7-821ADEFECABF}"/>
              </a:ext>
            </a:extLst>
          </p:cNvPr>
          <p:cNvCxnSpPr/>
          <p:nvPr/>
        </p:nvCxnSpPr>
        <p:spPr>
          <a:xfrm>
            <a:off x="1685365" y="3511923"/>
            <a:ext cx="0" cy="57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A9DF5C-B2A8-A240-8F7D-8048CF2E8008}"/>
              </a:ext>
            </a:extLst>
          </p:cNvPr>
          <p:cNvSpPr txBox="1"/>
          <p:nvPr/>
        </p:nvSpPr>
        <p:spPr>
          <a:xfrm>
            <a:off x="2662517" y="3274498"/>
            <a:ext cx="11095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YELLOW/GREEN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068536-6A9B-E5D0-6087-5CB040AE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663" y="5737690"/>
            <a:ext cx="585695" cy="58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rrow: Down 35">
            <a:extLst>
              <a:ext uri="{FF2B5EF4-FFF2-40B4-BE49-F238E27FC236}">
                <a16:creationId xmlns:a16="http://schemas.microsoft.com/office/drawing/2014/main" id="{C8040CE9-1CAE-1011-BDCB-F8B4DF465EEA}"/>
              </a:ext>
            </a:extLst>
          </p:cNvPr>
          <p:cNvSpPr/>
          <p:nvPr/>
        </p:nvSpPr>
        <p:spPr>
          <a:xfrm rot="10800000">
            <a:off x="3662079" y="5490883"/>
            <a:ext cx="45719" cy="21963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88C6169-0878-EBEB-A934-00B9F02A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29" y="1879239"/>
            <a:ext cx="865097" cy="75076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782A797-A9E5-B0C6-15A3-BAD7EC98D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533" y="1770769"/>
            <a:ext cx="881186" cy="96216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0B1EB4B-5A45-09B7-7D7A-F8A55F16C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62" y="1770769"/>
            <a:ext cx="932329" cy="92336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6B42C95-866E-FA7C-8CD9-C235F6A3E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8755" y="4280510"/>
            <a:ext cx="940262" cy="96567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9CCFE5F-922A-E878-923D-FCD928ED7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428" y="4259119"/>
            <a:ext cx="897700" cy="103189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6311CEE-6B12-7B03-A73F-84E3ADF4F2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299" y="4245912"/>
            <a:ext cx="931827" cy="1040179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F62693-5500-6874-73B3-DBE1A7E9E6A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71480" y="225462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9ED8E19-5034-0B17-874B-03FB541308D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414680" y="2254623"/>
            <a:ext cx="475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6B4F3CF-8FEA-5E4B-CE3D-38D0241D9F24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800158" y="4769223"/>
            <a:ext cx="295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5F0F753-1E9E-5437-0512-84A3A16D1756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2743199" y="4769223"/>
            <a:ext cx="385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Flowchart: Alternate Process 1027">
            <a:extLst>
              <a:ext uri="{FF2B5EF4-FFF2-40B4-BE49-F238E27FC236}">
                <a16:creationId xmlns:a16="http://schemas.microsoft.com/office/drawing/2014/main" id="{635DE4EB-8887-50C2-1028-A24E98D41610}"/>
              </a:ext>
            </a:extLst>
          </p:cNvPr>
          <p:cNvSpPr/>
          <p:nvPr/>
        </p:nvSpPr>
        <p:spPr>
          <a:xfrm>
            <a:off x="6096002" y="5639078"/>
            <a:ext cx="1299880" cy="845671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Anomaly detection –</a:t>
            </a:r>
            <a:r>
              <a:rPr lang="en-US" sz="1000" dirty="0">
                <a:solidFill>
                  <a:schemeClr val="tx1"/>
                </a:solidFill>
              </a:rPr>
              <a:t> Identifies strange behaving stock</a:t>
            </a:r>
          </a:p>
        </p:txBody>
      </p:sp>
      <p:sp>
        <p:nvSpPr>
          <p:cNvPr id="1029" name="Flowchart: Alternate Process 1028">
            <a:extLst>
              <a:ext uri="{FF2B5EF4-FFF2-40B4-BE49-F238E27FC236}">
                <a16:creationId xmlns:a16="http://schemas.microsoft.com/office/drawing/2014/main" id="{87012725-D4E8-2C95-B969-BC2C78EDC01F}"/>
              </a:ext>
            </a:extLst>
          </p:cNvPr>
          <p:cNvSpPr/>
          <p:nvPr/>
        </p:nvSpPr>
        <p:spPr>
          <a:xfrm>
            <a:off x="7522325" y="5639077"/>
            <a:ext cx="1299880" cy="845671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Risk Prediction –</a:t>
            </a:r>
            <a:r>
              <a:rPr lang="en-US" sz="1000" dirty="0">
                <a:solidFill>
                  <a:schemeClr val="tx1"/>
                </a:solidFill>
              </a:rPr>
              <a:t> Predicts future Risk Rating</a:t>
            </a:r>
          </a:p>
        </p:txBody>
      </p:sp>
      <p:sp>
        <p:nvSpPr>
          <p:cNvPr id="1030" name="Flowchart: Alternate Process 1029">
            <a:extLst>
              <a:ext uri="{FF2B5EF4-FFF2-40B4-BE49-F238E27FC236}">
                <a16:creationId xmlns:a16="http://schemas.microsoft.com/office/drawing/2014/main" id="{0ACB5CB7-E6D1-AC73-B44F-19488869A5EB}"/>
              </a:ext>
            </a:extLst>
          </p:cNvPr>
          <p:cNvSpPr/>
          <p:nvPr/>
        </p:nvSpPr>
        <p:spPr>
          <a:xfrm>
            <a:off x="4271680" y="5651778"/>
            <a:ext cx="1299880" cy="845671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TextBlob</a:t>
            </a:r>
            <a:r>
              <a:rPr lang="en-US" sz="1000" b="1" dirty="0">
                <a:solidFill>
                  <a:schemeClr val="tx1"/>
                </a:solidFill>
              </a:rPr>
              <a:t> NLP –</a:t>
            </a:r>
            <a:r>
              <a:rPr lang="en-US" sz="1000" dirty="0">
                <a:solidFill>
                  <a:schemeClr val="tx1"/>
                </a:solidFill>
              </a:rPr>
              <a:t> Analyze text to give sentiment score</a:t>
            </a:r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09E5B970-C14B-A684-F2C1-629AE34ED0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5197" y="740618"/>
            <a:ext cx="548526" cy="772654"/>
          </a:xfrm>
          <a:prstGeom prst="rect">
            <a:avLst/>
          </a:prstGeom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154A2C5F-4542-7DC7-BBC5-70EBBB8E4F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520" y="5521883"/>
            <a:ext cx="1299880" cy="979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D1826B-2D3B-D786-124B-41CF1D707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41170"/>
            <a:ext cx="8686993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Here is your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word cloud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representing the tech stack: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kumimoji="0" lang="en-US" altLang="en-US" sz="2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        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DC86736-8A96-4BE7-D476-640526ABA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683746"/>
            <a:ext cx="452007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32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218BE50-F082-40DE-724B-DF09427C3ED0}"/>
              </a:ext>
            </a:extLst>
          </p:cNvPr>
          <p:cNvSpPr/>
          <p:nvPr/>
        </p:nvSpPr>
        <p:spPr>
          <a:xfrm>
            <a:off x="3444687" y="2574953"/>
            <a:ext cx="1909482" cy="139849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Risk Analysis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04251-6161-7A7C-086E-D35DE68E5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95" y="2528933"/>
            <a:ext cx="1730294" cy="15521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A413E8-ADD9-641B-EC50-C450D6B5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648" y="589974"/>
            <a:ext cx="1909482" cy="14659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8729D4-691C-BC6F-3400-6A8AF8EA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787" y="2500758"/>
            <a:ext cx="1806389" cy="158794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E44447-A71C-E2BF-6F73-97A10602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072" y="4473631"/>
            <a:ext cx="1743482" cy="14527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26ED98-D349-1C0C-FBDB-51F5D9969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4648" y="4500768"/>
            <a:ext cx="1909482" cy="14256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E1C64B-404D-53F9-562F-0CCE9AFD8D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960" y="649916"/>
            <a:ext cx="1977420" cy="14659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459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4F34-14D0-4C75-1C9F-9774885D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55DE5-7C61-148E-938E-123DFEEE8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3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B1DB-EF9D-4698-0EF0-DF67F2A8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2125A-C5BC-98BF-8FB4-B1685BFD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967" b="4967"/>
          <a:stretch>
            <a:fillRect/>
          </a:stretch>
        </p:blipFill>
        <p:spPr>
          <a:xfrm>
            <a:off x="883024" y="-62753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83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190</Words>
  <Application>Microsoft Office PowerPoint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Rk Patil</dc:creator>
  <cp:keywords/>
  <dc:description>generated using python-pptx</dc:description>
  <cp:lastModifiedBy>Rk Patil</cp:lastModifiedBy>
  <cp:revision>2</cp:revision>
  <dcterms:created xsi:type="dcterms:W3CDTF">2013-01-27T09:14:16Z</dcterms:created>
  <dcterms:modified xsi:type="dcterms:W3CDTF">2025-10-15T01:52:43Z</dcterms:modified>
  <cp:category/>
</cp:coreProperties>
</file>